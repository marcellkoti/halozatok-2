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mtClean="0"/>
              <a:t>Alhálózatokra bontás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460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5031" y="2035565"/>
            <a:ext cx="5912855" cy="4462380"/>
          </a:xfrm>
        </p:spPr>
        <p:txBody>
          <a:bodyPr anchor="t">
            <a:normAutofit fontScale="92500" lnSpcReduction="10000"/>
          </a:bodyPr>
          <a:lstStyle/>
          <a:p>
            <a:r>
              <a:rPr lang="hu-HU"/>
              <a:t>Milyen típusú cím ez, amit kaptunk?</a:t>
            </a:r>
          </a:p>
          <a:p>
            <a:pPr lvl="1"/>
            <a:r>
              <a:rPr lang="hu-HU" smtClean="0"/>
              <a:t>Hálózat címe?</a:t>
            </a:r>
          </a:p>
          <a:p>
            <a:pPr lvl="1"/>
            <a:r>
              <a:rPr lang="hu-HU" smtClean="0"/>
              <a:t>Állomás címe?</a:t>
            </a:r>
          </a:p>
          <a:p>
            <a:pPr lvl="1"/>
            <a:r>
              <a:rPr lang="hu-HU" smtClean="0"/>
              <a:t>Szórási cím?</a:t>
            </a:r>
          </a:p>
          <a:p>
            <a:r>
              <a:rPr lang="hu-HU" smtClean="0"/>
              <a:t>Megoldás:</a:t>
            </a:r>
            <a:br>
              <a:rPr lang="hu-HU" smtClean="0"/>
            </a:br>
            <a:r>
              <a:rPr lang="hu-HU" smtClean="0"/>
              <a:t>Átváltjuk a /24 maszkot decimálisra:</a:t>
            </a:r>
            <a:br>
              <a:rPr lang="hu-HU" smtClean="0"/>
            </a:br>
            <a:r>
              <a:rPr lang="hu-HU" smtClean="0"/>
              <a:t>24 db egyes balról jobbra</a:t>
            </a:r>
            <a:br>
              <a:rPr lang="hu-HU" smtClean="0"/>
            </a:br>
            <a:r>
              <a:rPr lang="hu-HU" smtClean="0"/>
              <a:t>11111111 11111111 11111111 00000000</a:t>
            </a:r>
            <a:br>
              <a:rPr lang="hu-HU" smtClean="0"/>
            </a:br>
            <a:r>
              <a:rPr lang="hu-HU" smtClean="0"/>
              <a:t>255.255.255.0</a:t>
            </a:r>
          </a:p>
          <a:p>
            <a:r>
              <a:rPr lang="hu-HU" smtClean="0"/>
              <a:t>A táblázat a maszk 3. oktettjét jelenti</a:t>
            </a:r>
            <a:br>
              <a:rPr lang="hu-HU" smtClean="0"/>
            </a:br>
            <a:r>
              <a:rPr lang="hu-HU" smtClean="0"/>
              <a:t>A 255 megmutatja, hogy a hálózat címe 1 -el fog növekedni.</a:t>
            </a:r>
            <a:br>
              <a:rPr lang="hu-HU" smtClean="0"/>
            </a:br>
            <a:r>
              <a:rPr lang="hu-HU" smtClean="0"/>
              <a:t>A következő hálózat címe: 192.168.11.0</a:t>
            </a:r>
            <a:br>
              <a:rPr lang="hu-HU" smtClean="0"/>
            </a:br>
            <a:r>
              <a:rPr lang="hu-HU" b="1" smtClean="0"/>
              <a:t>Állomás cím tehát a 192.168.10.127</a:t>
            </a:r>
            <a:endParaRPr lang="hu-HU" b="1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36486"/>
              </p:ext>
            </p:extLst>
          </p:nvPr>
        </p:nvGraphicFramePr>
        <p:xfrm>
          <a:off x="6147887" y="2044477"/>
          <a:ext cx="5740400" cy="107442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7" name="Szabadkézi sokszög 6"/>
          <p:cNvSpPr/>
          <p:nvPr/>
        </p:nvSpPr>
        <p:spPr>
          <a:xfrm>
            <a:off x="1515979" y="2518610"/>
            <a:ext cx="4857278" cy="2430379"/>
          </a:xfrm>
          <a:custGeom>
            <a:avLst/>
            <a:gdLst>
              <a:gd name="connsiteX0" fmla="*/ 385011 w 4857278"/>
              <a:gd name="connsiteY0" fmla="*/ 2021306 h 2430379"/>
              <a:gd name="connsiteX1" fmla="*/ 176463 w 4857278"/>
              <a:gd name="connsiteY1" fmla="*/ 2005264 h 2430379"/>
              <a:gd name="connsiteX2" fmla="*/ 128337 w 4857278"/>
              <a:gd name="connsiteY2" fmla="*/ 2021306 h 2430379"/>
              <a:gd name="connsiteX3" fmla="*/ 56147 w 4857278"/>
              <a:gd name="connsiteY3" fmla="*/ 2069432 h 2430379"/>
              <a:gd name="connsiteX4" fmla="*/ 32084 w 4857278"/>
              <a:gd name="connsiteY4" fmla="*/ 2085474 h 2430379"/>
              <a:gd name="connsiteX5" fmla="*/ 0 w 4857278"/>
              <a:gd name="connsiteY5" fmla="*/ 2149643 h 2430379"/>
              <a:gd name="connsiteX6" fmla="*/ 8021 w 4857278"/>
              <a:gd name="connsiteY6" fmla="*/ 2358190 h 2430379"/>
              <a:gd name="connsiteX7" fmla="*/ 40105 w 4857278"/>
              <a:gd name="connsiteY7" fmla="*/ 2390274 h 2430379"/>
              <a:gd name="connsiteX8" fmla="*/ 64169 w 4857278"/>
              <a:gd name="connsiteY8" fmla="*/ 2406316 h 2430379"/>
              <a:gd name="connsiteX9" fmla="*/ 168442 w 4857278"/>
              <a:gd name="connsiteY9" fmla="*/ 2430379 h 2430379"/>
              <a:gd name="connsiteX10" fmla="*/ 409074 w 4857278"/>
              <a:gd name="connsiteY10" fmla="*/ 2422358 h 2430379"/>
              <a:gd name="connsiteX11" fmla="*/ 433137 w 4857278"/>
              <a:gd name="connsiteY11" fmla="*/ 2406316 h 2430379"/>
              <a:gd name="connsiteX12" fmla="*/ 457200 w 4857278"/>
              <a:gd name="connsiteY12" fmla="*/ 2358190 h 2430379"/>
              <a:gd name="connsiteX13" fmla="*/ 489284 w 4857278"/>
              <a:gd name="connsiteY13" fmla="*/ 2310064 h 2430379"/>
              <a:gd name="connsiteX14" fmla="*/ 505326 w 4857278"/>
              <a:gd name="connsiteY14" fmla="*/ 2286000 h 2430379"/>
              <a:gd name="connsiteX15" fmla="*/ 521369 w 4857278"/>
              <a:gd name="connsiteY15" fmla="*/ 2237874 h 2430379"/>
              <a:gd name="connsiteX16" fmla="*/ 529390 w 4857278"/>
              <a:gd name="connsiteY16" fmla="*/ 2213811 h 2430379"/>
              <a:gd name="connsiteX17" fmla="*/ 537411 w 4857278"/>
              <a:gd name="connsiteY17" fmla="*/ 2093495 h 2430379"/>
              <a:gd name="connsiteX18" fmla="*/ 561474 w 4857278"/>
              <a:gd name="connsiteY18" fmla="*/ 2085474 h 2430379"/>
              <a:gd name="connsiteX19" fmla="*/ 633663 w 4857278"/>
              <a:gd name="connsiteY19" fmla="*/ 2077453 h 2430379"/>
              <a:gd name="connsiteX20" fmla="*/ 729916 w 4857278"/>
              <a:gd name="connsiteY20" fmla="*/ 2061411 h 2430379"/>
              <a:gd name="connsiteX21" fmla="*/ 818147 w 4857278"/>
              <a:gd name="connsiteY21" fmla="*/ 2045369 h 2430379"/>
              <a:gd name="connsiteX22" fmla="*/ 850232 w 4857278"/>
              <a:gd name="connsiteY22" fmla="*/ 2037348 h 2430379"/>
              <a:gd name="connsiteX23" fmla="*/ 898358 w 4857278"/>
              <a:gd name="connsiteY23" fmla="*/ 2021306 h 2430379"/>
              <a:gd name="connsiteX24" fmla="*/ 946484 w 4857278"/>
              <a:gd name="connsiteY24" fmla="*/ 2013285 h 2430379"/>
              <a:gd name="connsiteX25" fmla="*/ 970547 w 4857278"/>
              <a:gd name="connsiteY25" fmla="*/ 2005264 h 2430379"/>
              <a:gd name="connsiteX26" fmla="*/ 1098884 w 4857278"/>
              <a:gd name="connsiteY26" fmla="*/ 1989222 h 2430379"/>
              <a:gd name="connsiteX27" fmla="*/ 1195137 w 4857278"/>
              <a:gd name="connsiteY27" fmla="*/ 1973179 h 2430379"/>
              <a:gd name="connsiteX28" fmla="*/ 1227221 w 4857278"/>
              <a:gd name="connsiteY28" fmla="*/ 1965158 h 2430379"/>
              <a:gd name="connsiteX29" fmla="*/ 1515979 w 4857278"/>
              <a:gd name="connsiteY29" fmla="*/ 1925053 h 2430379"/>
              <a:gd name="connsiteX30" fmla="*/ 1596190 w 4857278"/>
              <a:gd name="connsiteY30" fmla="*/ 1909011 h 2430379"/>
              <a:gd name="connsiteX31" fmla="*/ 1748590 w 4857278"/>
              <a:gd name="connsiteY31" fmla="*/ 1868906 h 2430379"/>
              <a:gd name="connsiteX32" fmla="*/ 1788695 w 4857278"/>
              <a:gd name="connsiteY32" fmla="*/ 1852864 h 2430379"/>
              <a:gd name="connsiteX33" fmla="*/ 1884947 w 4857278"/>
              <a:gd name="connsiteY33" fmla="*/ 1836822 h 2430379"/>
              <a:gd name="connsiteX34" fmla="*/ 2109537 w 4857278"/>
              <a:gd name="connsiteY34" fmla="*/ 1764632 h 2430379"/>
              <a:gd name="connsiteX35" fmla="*/ 2133600 w 4857278"/>
              <a:gd name="connsiteY35" fmla="*/ 1756611 h 2430379"/>
              <a:gd name="connsiteX36" fmla="*/ 2221832 w 4857278"/>
              <a:gd name="connsiteY36" fmla="*/ 1732548 h 2430379"/>
              <a:gd name="connsiteX37" fmla="*/ 2470484 w 4857278"/>
              <a:gd name="connsiteY37" fmla="*/ 1652337 h 2430379"/>
              <a:gd name="connsiteX38" fmla="*/ 2590800 w 4857278"/>
              <a:gd name="connsiteY38" fmla="*/ 1620253 h 2430379"/>
              <a:gd name="connsiteX39" fmla="*/ 2622884 w 4857278"/>
              <a:gd name="connsiteY39" fmla="*/ 1604211 h 2430379"/>
              <a:gd name="connsiteX40" fmla="*/ 2711116 w 4857278"/>
              <a:gd name="connsiteY40" fmla="*/ 1580148 h 2430379"/>
              <a:gd name="connsiteX41" fmla="*/ 2839453 w 4857278"/>
              <a:gd name="connsiteY41" fmla="*/ 1532022 h 2430379"/>
              <a:gd name="connsiteX42" fmla="*/ 2959769 w 4857278"/>
              <a:gd name="connsiteY42" fmla="*/ 1483895 h 2430379"/>
              <a:gd name="connsiteX43" fmla="*/ 2983832 w 4857278"/>
              <a:gd name="connsiteY43" fmla="*/ 1475874 h 2430379"/>
              <a:gd name="connsiteX44" fmla="*/ 3064042 w 4857278"/>
              <a:gd name="connsiteY44" fmla="*/ 1435769 h 2430379"/>
              <a:gd name="connsiteX45" fmla="*/ 3176337 w 4857278"/>
              <a:gd name="connsiteY45" fmla="*/ 1395664 h 2430379"/>
              <a:gd name="connsiteX46" fmla="*/ 3280611 w 4857278"/>
              <a:gd name="connsiteY46" fmla="*/ 1339516 h 2430379"/>
              <a:gd name="connsiteX47" fmla="*/ 3304674 w 4857278"/>
              <a:gd name="connsiteY47" fmla="*/ 1331495 h 2430379"/>
              <a:gd name="connsiteX48" fmla="*/ 3376863 w 4857278"/>
              <a:gd name="connsiteY48" fmla="*/ 1291390 h 2430379"/>
              <a:gd name="connsiteX49" fmla="*/ 3400926 w 4857278"/>
              <a:gd name="connsiteY49" fmla="*/ 1283369 h 2430379"/>
              <a:gd name="connsiteX50" fmla="*/ 3449053 w 4857278"/>
              <a:gd name="connsiteY50" fmla="*/ 1259306 h 2430379"/>
              <a:gd name="connsiteX51" fmla="*/ 3513221 w 4857278"/>
              <a:gd name="connsiteY51" fmla="*/ 1235243 h 2430379"/>
              <a:gd name="connsiteX52" fmla="*/ 3537284 w 4857278"/>
              <a:gd name="connsiteY52" fmla="*/ 1219200 h 2430379"/>
              <a:gd name="connsiteX53" fmla="*/ 3657600 w 4857278"/>
              <a:gd name="connsiteY53" fmla="*/ 1155032 h 2430379"/>
              <a:gd name="connsiteX54" fmla="*/ 3713747 w 4857278"/>
              <a:gd name="connsiteY54" fmla="*/ 1114927 h 2430379"/>
              <a:gd name="connsiteX55" fmla="*/ 3866147 w 4857278"/>
              <a:gd name="connsiteY55" fmla="*/ 1042737 h 2430379"/>
              <a:gd name="connsiteX56" fmla="*/ 3946358 w 4857278"/>
              <a:gd name="connsiteY56" fmla="*/ 1002632 h 2430379"/>
              <a:gd name="connsiteX57" fmla="*/ 4106779 w 4857278"/>
              <a:gd name="connsiteY57" fmla="*/ 922422 h 2430379"/>
              <a:gd name="connsiteX58" fmla="*/ 4122821 w 4857278"/>
              <a:gd name="connsiteY58" fmla="*/ 906379 h 2430379"/>
              <a:gd name="connsiteX59" fmla="*/ 4195011 w 4857278"/>
              <a:gd name="connsiteY59" fmla="*/ 850232 h 2430379"/>
              <a:gd name="connsiteX60" fmla="*/ 4299284 w 4857278"/>
              <a:gd name="connsiteY60" fmla="*/ 770022 h 2430379"/>
              <a:gd name="connsiteX61" fmla="*/ 4387516 w 4857278"/>
              <a:gd name="connsiteY61" fmla="*/ 681790 h 2430379"/>
              <a:gd name="connsiteX62" fmla="*/ 4443663 w 4857278"/>
              <a:gd name="connsiteY62" fmla="*/ 633664 h 2430379"/>
              <a:gd name="connsiteX63" fmla="*/ 4499811 w 4857278"/>
              <a:gd name="connsiteY63" fmla="*/ 577516 h 2430379"/>
              <a:gd name="connsiteX64" fmla="*/ 4547937 w 4857278"/>
              <a:gd name="connsiteY64" fmla="*/ 521369 h 2430379"/>
              <a:gd name="connsiteX65" fmla="*/ 4692316 w 4857278"/>
              <a:gd name="connsiteY65" fmla="*/ 385011 h 2430379"/>
              <a:gd name="connsiteX66" fmla="*/ 4724400 w 4857278"/>
              <a:gd name="connsiteY66" fmla="*/ 352927 h 2430379"/>
              <a:gd name="connsiteX67" fmla="*/ 4788569 w 4857278"/>
              <a:gd name="connsiteY67" fmla="*/ 272716 h 2430379"/>
              <a:gd name="connsiteX68" fmla="*/ 4804611 w 4857278"/>
              <a:gd name="connsiteY68" fmla="*/ 240632 h 2430379"/>
              <a:gd name="connsiteX69" fmla="*/ 4820653 w 4857278"/>
              <a:gd name="connsiteY69" fmla="*/ 216569 h 2430379"/>
              <a:gd name="connsiteX70" fmla="*/ 4844716 w 4857278"/>
              <a:gd name="connsiteY70" fmla="*/ 160422 h 2430379"/>
              <a:gd name="connsiteX71" fmla="*/ 4852737 w 4857278"/>
              <a:gd name="connsiteY71" fmla="*/ 0 h 2430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857278" h="2430379">
                <a:moveTo>
                  <a:pt x="385011" y="2021306"/>
                </a:moveTo>
                <a:cubicBezTo>
                  <a:pt x="301261" y="1971057"/>
                  <a:pt x="344047" y="1986644"/>
                  <a:pt x="176463" y="2005264"/>
                </a:cubicBezTo>
                <a:cubicBezTo>
                  <a:pt x="159657" y="2007131"/>
                  <a:pt x="142407" y="2011926"/>
                  <a:pt x="128337" y="2021306"/>
                </a:cubicBezTo>
                <a:lnTo>
                  <a:pt x="56147" y="2069432"/>
                </a:lnTo>
                <a:lnTo>
                  <a:pt x="32084" y="2085474"/>
                </a:lnTo>
                <a:cubicBezTo>
                  <a:pt x="13651" y="2140774"/>
                  <a:pt x="27999" y="2121643"/>
                  <a:pt x="0" y="2149643"/>
                </a:cubicBezTo>
                <a:cubicBezTo>
                  <a:pt x="2674" y="2219159"/>
                  <a:pt x="3235" y="2288788"/>
                  <a:pt x="8021" y="2358190"/>
                </a:cubicBezTo>
                <a:cubicBezTo>
                  <a:pt x="10313" y="2391420"/>
                  <a:pt x="16424" y="2378434"/>
                  <a:pt x="40105" y="2390274"/>
                </a:cubicBezTo>
                <a:cubicBezTo>
                  <a:pt x="48728" y="2394585"/>
                  <a:pt x="55360" y="2402401"/>
                  <a:pt x="64169" y="2406316"/>
                </a:cubicBezTo>
                <a:cubicBezTo>
                  <a:pt x="105893" y="2424860"/>
                  <a:pt x="122765" y="2423854"/>
                  <a:pt x="168442" y="2430379"/>
                </a:cubicBezTo>
                <a:cubicBezTo>
                  <a:pt x="248653" y="2427705"/>
                  <a:pt x="329148" y="2429624"/>
                  <a:pt x="409074" y="2422358"/>
                </a:cubicBezTo>
                <a:cubicBezTo>
                  <a:pt x="418674" y="2421485"/>
                  <a:pt x="426320" y="2413133"/>
                  <a:pt x="433137" y="2406316"/>
                </a:cubicBezTo>
                <a:cubicBezTo>
                  <a:pt x="459843" y="2379610"/>
                  <a:pt x="440891" y="2387547"/>
                  <a:pt x="457200" y="2358190"/>
                </a:cubicBezTo>
                <a:cubicBezTo>
                  <a:pt x="466563" y="2341336"/>
                  <a:pt x="478589" y="2326106"/>
                  <a:pt x="489284" y="2310064"/>
                </a:cubicBezTo>
                <a:cubicBezTo>
                  <a:pt x="494631" y="2302043"/>
                  <a:pt x="502277" y="2295146"/>
                  <a:pt x="505326" y="2286000"/>
                </a:cubicBezTo>
                <a:lnTo>
                  <a:pt x="521369" y="2237874"/>
                </a:lnTo>
                <a:lnTo>
                  <a:pt x="529390" y="2213811"/>
                </a:lnTo>
                <a:cubicBezTo>
                  <a:pt x="532064" y="2173706"/>
                  <a:pt x="527663" y="2132489"/>
                  <a:pt x="537411" y="2093495"/>
                </a:cubicBezTo>
                <a:cubicBezTo>
                  <a:pt x="539462" y="2085293"/>
                  <a:pt x="553134" y="2086864"/>
                  <a:pt x="561474" y="2085474"/>
                </a:cubicBezTo>
                <a:cubicBezTo>
                  <a:pt x="585356" y="2081494"/>
                  <a:pt x="609600" y="2080127"/>
                  <a:pt x="633663" y="2077453"/>
                </a:cubicBezTo>
                <a:cubicBezTo>
                  <a:pt x="683822" y="2060733"/>
                  <a:pt x="640368" y="2073351"/>
                  <a:pt x="729916" y="2061411"/>
                </a:cubicBezTo>
                <a:cubicBezTo>
                  <a:pt x="751684" y="2058509"/>
                  <a:pt x="795463" y="2050410"/>
                  <a:pt x="818147" y="2045369"/>
                </a:cubicBezTo>
                <a:cubicBezTo>
                  <a:pt x="828909" y="2042978"/>
                  <a:pt x="839673" y="2040516"/>
                  <a:pt x="850232" y="2037348"/>
                </a:cubicBezTo>
                <a:cubicBezTo>
                  <a:pt x="866429" y="2032489"/>
                  <a:pt x="881678" y="2024086"/>
                  <a:pt x="898358" y="2021306"/>
                </a:cubicBezTo>
                <a:cubicBezTo>
                  <a:pt x="914400" y="2018632"/>
                  <a:pt x="930608" y="2016813"/>
                  <a:pt x="946484" y="2013285"/>
                </a:cubicBezTo>
                <a:cubicBezTo>
                  <a:pt x="954738" y="2011451"/>
                  <a:pt x="962293" y="2007098"/>
                  <a:pt x="970547" y="2005264"/>
                </a:cubicBezTo>
                <a:cubicBezTo>
                  <a:pt x="1021599" y="1993919"/>
                  <a:pt x="1041449" y="1997054"/>
                  <a:pt x="1098884" y="1989222"/>
                </a:cubicBezTo>
                <a:cubicBezTo>
                  <a:pt x="1131113" y="1984827"/>
                  <a:pt x="1163167" y="1979174"/>
                  <a:pt x="1195137" y="1973179"/>
                </a:cubicBezTo>
                <a:cubicBezTo>
                  <a:pt x="1205972" y="1971147"/>
                  <a:pt x="1216294" y="1966615"/>
                  <a:pt x="1227221" y="1965158"/>
                </a:cubicBezTo>
                <a:cubicBezTo>
                  <a:pt x="1421795" y="1939215"/>
                  <a:pt x="1197063" y="1988835"/>
                  <a:pt x="1515979" y="1925053"/>
                </a:cubicBezTo>
                <a:cubicBezTo>
                  <a:pt x="1542716" y="1919706"/>
                  <a:pt x="1569738" y="1915624"/>
                  <a:pt x="1596190" y="1909011"/>
                </a:cubicBezTo>
                <a:cubicBezTo>
                  <a:pt x="1811163" y="1855268"/>
                  <a:pt x="1638942" y="1890835"/>
                  <a:pt x="1748590" y="1868906"/>
                </a:cubicBezTo>
                <a:cubicBezTo>
                  <a:pt x="1761958" y="1863559"/>
                  <a:pt x="1774680" y="1856162"/>
                  <a:pt x="1788695" y="1852864"/>
                </a:cubicBezTo>
                <a:cubicBezTo>
                  <a:pt x="1820357" y="1845414"/>
                  <a:pt x="1884947" y="1836822"/>
                  <a:pt x="1884947" y="1836822"/>
                </a:cubicBezTo>
                <a:cubicBezTo>
                  <a:pt x="2078564" y="1772282"/>
                  <a:pt x="1931479" y="1820275"/>
                  <a:pt x="2109537" y="1764632"/>
                </a:cubicBezTo>
                <a:cubicBezTo>
                  <a:pt x="2117607" y="1762110"/>
                  <a:pt x="2125443" y="1758836"/>
                  <a:pt x="2133600" y="1756611"/>
                </a:cubicBezTo>
                <a:cubicBezTo>
                  <a:pt x="2163011" y="1748590"/>
                  <a:pt x="2192695" y="1741513"/>
                  <a:pt x="2221832" y="1732548"/>
                </a:cubicBezTo>
                <a:cubicBezTo>
                  <a:pt x="2305035" y="1706947"/>
                  <a:pt x="2386269" y="1674794"/>
                  <a:pt x="2470484" y="1652337"/>
                </a:cubicBezTo>
                <a:cubicBezTo>
                  <a:pt x="2510589" y="1641642"/>
                  <a:pt x="2551220" y="1632752"/>
                  <a:pt x="2590800" y="1620253"/>
                </a:cubicBezTo>
                <a:cubicBezTo>
                  <a:pt x="2602202" y="1616652"/>
                  <a:pt x="2611541" y="1607992"/>
                  <a:pt x="2622884" y="1604211"/>
                </a:cubicBezTo>
                <a:cubicBezTo>
                  <a:pt x="2651804" y="1594571"/>
                  <a:pt x="2682196" y="1589788"/>
                  <a:pt x="2711116" y="1580148"/>
                </a:cubicBezTo>
                <a:cubicBezTo>
                  <a:pt x="2754459" y="1565700"/>
                  <a:pt x="2797033" y="1548990"/>
                  <a:pt x="2839453" y="1532022"/>
                </a:cubicBezTo>
                <a:lnTo>
                  <a:pt x="2959769" y="1483895"/>
                </a:lnTo>
                <a:cubicBezTo>
                  <a:pt x="2967649" y="1480831"/>
                  <a:pt x="2976155" y="1479417"/>
                  <a:pt x="2983832" y="1475874"/>
                </a:cubicBezTo>
                <a:cubicBezTo>
                  <a:pt x="3010973" y="1463347"/>
                  <a:pt x="3036449" y="1447266"/>
                  <a:pt x="3064042" y="1435769"/>
                </a:cubicBezTo>
                <a:cubicBezTo>
                  <a:pt x="3100732" y="1420482"/>
                  <a:pt x="3140016" y="1411807"/>
                  <a:pt x="3176337" y="1395664"/>
                </a:cubicBezTo>
                <a:cubicBezTo>
                  <a:pt x="3212411" y="1379631"/>
                  <a:pt x="3245302" y="1357171"/>
                  <a:pt x="3280611" y="1339516"/>
                </a:cubicBezTo>
                <a:cubicBezTo>
                  <a:pt x="3288173" y="1335735"/>
                  <a:pt x="3297112" y="1335276"/>
                  <a:pt x="3304674" y="1331495"/>
                </a:cubicBezTo>
                <a:cubicBezTo>
                  <a:pt x="3329295" y="1319185"/>
                  <a:pt x="3352242" y="1303700"/>
                  <a:pt x="3376863" y="1291390"/>
                </a:cubicBezTo>
                <a:cubicBezTo>
                  <a:pt x="3384425" y="1287609"/>
                  <a:pt x="3393200" y="1286803"/>
                  <a:pt x="3400926" y="1283369"/>
                </a:cubicBezTo>
                <a:cubicBezTo>
                  <a:pt x="3417316" y="1276085"/>
                  <a:pt x="3432567" y="1266371"/>
                  <a:pt x="3449053" y="1259306"/>
                </a:cubicBezTo>
                <a:cubicBezTo>
                  <a:pt x="3470050" y="1250307"/>
                  <a:pt x="3492425" y="1244696"/>
                  <a:pt x="3513221" y="1235243"/>
                </a:cubicBezTo>
                <a:cubicBezTo>
                  <a:pt x="3521997" y="1231254"/>
                  <a:pt x="3528857" y="1223882"/>
                  <a:pt x="3537284" y="1219200"/>
                </a:cubicBezTo>
                <a:cubicBezTo>
                  <a:pt x="3610996" y="1178248"/>
                  <a:pt x="3568253" y="1210874"/>
                  <a:pt x="3657600" y="1155032"/>
                </a:cubicBezTo>
                <a:cubicBezTo>
                  <a:pt x="3677104" y="1142842"/>
                  <a:pt x="3693923" y="1126588"/>
                  <a:pt x="3713747" y="1114927"/>
                </a:cubicBezTo>
                <a:cubicBezTo>
                  <a:pt x="3766402" y="1083954"/>
                  <a:pt x="3811663" y="1068545"/>
                  <a:pt x="3866147" y="1042737"/>
                </a:cubicBezTo>
                <a:cubicBezTo>
                  <a:pt x="3893162" y="1029940"/>
                  <a:pt x="3919343" y="1015429"/>
                  <a:pt x="3946358" y="1002632"/>
                </a:cubicBezTo>
                <a:cubicBezTo>
                  <a:pt x="4027174" y="964351"/>
                  <a:pt x="4023402" y="973731"/>
                  <a:pt x="4106779" y="922422"/>
                </a:cubicBezTo>
                <a:cubicBezTo>
                  <a:pt x="4113220" y="918458"/>
                  <a:pt x="4116968" y="911168"/>
                  <a:pt x="4122821" y="906379"/>
                </a:cubicBezTo>
                <a:cubicBezTo>
                  <a:pt x="4146415" y="887075"/>
                  <a:pt x="4171693" y="869868"/>
                  <a:pt x="4195011" y="850232"/>
                </a:cubicBezTo>
                <a:cubicBezTo>
                  <a:pt x="4291349" y="769106"/>
                  <a:pt x="4238783" y="790189"/>
                  <a:pt x="4299284" y="770022"/>
                </a:cubicBezTo>
                <a:cubicBezTo>
                  <a:pt x="4328695" y="740611"/>
                  <a:pt x="4355936" y="708858"/>
                  <a:pt x="4387516" y="681790"/>
                </a:cubicBezTo>
                <a:cubicBezTo>
                  <a:pt x="4406232" y="665748"/>
                  <a:pt x="4425600" y="650437"/>
                  <a:pt x="4443663" y="633664"/>
                </a:cubicBezTo>
                <a:cubicBezTo>
                  <a:pt x="4463059" y="615654"/>
                  <a:pt x="4482105" y="597190"/>
                  <a:pt x="4499811" y="577516"/>
                </a:cubicBezTo>
                <a:cubicBezTo>
                  <a:pt x="4560116" y="510510"/>
                  <a:pt x="4452753" y="607900"/>
                  <a:pt x="4547937" y="521369"/>
                </a:cubicBezTo>
                <a:cubicBezTo>
                  <a:pt x="4685793" y="396045"/>
                  <a:pt x="4502068" y="575259"/>
                  <a:pt x="4692316" y="385011"/>
                </a:cubicBezTo>
                <a:cubicBezTo>
                  <a:pt x="4703011" y="374316"/>
                  <a:pt x="4716011" y="365511"/>
                  <a:pt x="4724400" y="352927"/>
                </a:cubicBezTo>
                <a:cubicBezTo>
                  <a:pt x="4764874" y="292215"/>
                  <a:pt x="4742851" y="318433"/>
                  <a:pt x="4788569" y="272716"/>
                </a:cubicBezTo>
                <a:cubicBezTo>
                  <a:pt x="4793916" y="262021"/>
                  <a:pt x="4798679" y="251014"/>
                  <a:pt x="4804611" y="240632"/>
                </a:cubicBezTo>
                <a:cubicBezTo>
                  <a:pt x="4809394" y="232262"/>
                  <a:pt x="4816856" y="225430"/>
                  <a:pt x="4820653" y="216569"/>
                </a:cubicBezTo>
                <a:cubicBezTo>
                  <a:pt x="4851730" y="144056"/>
                  <a:pt x="4804442" y="220834"/>
                  <a:pt x="4844716" y="160422"/>
                </a:cubicBezTo>
                <a:cubicBezTo>
                  <a:pt x="4867110" y="93238"/>
                  <a:pt x="4852737" y="144813"/>
                  <a:pt x="4852737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/>
          <p:cNvSpPr/>
          <p:nvPr/>
        </p:nvSpPr>
        <p:spPr>
          <a:xfrm>
            <a:off x="11293642" y="1796716"/>
            <a:ext cx="810126" cy="14437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abadkézi sokszög 8"/>
          <p:cNvSpPr/>
          <p:nvPr/>
        </p:nvSpPr>
        <p:spPr>
          <a:xfrm>
            <a:off x="5767137" y="3208421"/>
            <a:ext cx="5646821" cy="2454442"/>
          </a:xfrm>
          <a:custGeom>
            <a:avLst/>
            <a:gdLst>
              <a:gd name="connsiteX0" fmla="*/ 0 w 5646821"/>
              <a:gd name="connsiteY0" fmla="*/ 2454442 h 2454442"/>
              <a:gd name="connsiteX1" fmla="*/ 144379 w 5646821"/>
              <a:gd name="connsiteY1" fmla="*/ 2446421 h 2454442"/>
              <a:gd name="connsiteX2" fmla="*/ 224589 w 5646821"/>
              <a:gd name="connsiteY2" fmla="*/ 2414337 h 2454442"/>
              <a:gd name="connsiteX3" fmla="*/ 272716 w 5646821"/>
              <a:gd name="connsiteY3" fmla="*/ 2398295 h 2454442"/>
              <a:gd name="connsiteX4" fmla="*/ 368968 w 5646821"/>
              <a:gd name="connsiteY4" fmla="*/ 2350168 h 2454442"/>
              <a:gd name="connsiteX5" fmla="*/ 401052 w 5646821"/>
              <a:gd name="connsiteY5" fmla="*/ 2342147 h 2454442"/>
              <a:gd name="connsiteX6" fmla="*/ 489284 w 5646821"/>
              <a:gd name="connsiteY6" fmla="*/ 2302042 h 2454442"/>
              <a:gd name="connsiteX7" fmla="*/ 609600 w 5646821"/>
              <a:gd name="connsiteY7" fmla="*/ 2269958 h 2454442"/>
              <a:gd name="connsiteX8" fmla="*/ 681789 w 5646821"/>
              <a:gd name="connsiteY8" fmla="*/ 2237874 h 2454442"/>
              <a:gd name="connsiteX9" fmla="*/ 753979 w 5646821"/>
              <a:gd name="connsiteY9" fmla="*/ 2221832 h 2454442"/>
              <a:gd name="connsiteX10" fmla="*/ 882316 w 5646821"/>
              <a:gd name="connsiteY10" fmla="*/ 2189747 h 2454442"/>
              <a:gd name="connsiteX11" fmla="*/ 938463 w 5646821"/>
              <a:gd name="connsiteY11" fmla="*/ 2173705 h 2454442"/>
              <a:gd name="connsiteX12" fmla="*/ 986589 w 5646821"/>
              <a:gd name="connsiteY12" fmla="*/ 2165684 h 2454442"/>
              <a:gd name="connsiteX13" fmla="*/ 1098884 w 5646821"/>
              <a:gd name="connsiteY13" fmla="*/ 2133600 h 2454442"/>
              <a:gd name="connsiteX14" fmla="*/ 1163052 w 5646821"/>
              <a:gd name="connsiteY14" fmla="*/ 2109537 h 2454442"/>
              <a:gd name="connsiteX15" fmla="*/ 1235242 w 5646821"/>
              <a:gd name="connsiteY15" fmla="*/ 2101516 h 2454442"/>
              <a:gd name="connsiteX16" fmla="*/ 1299410 w 5646821"/>
              <a:gd name="connsiteY16" fmla="*/ 2077453 h 2454442"/>
              <a:gd name="connsiteX17" fmla="*/ 1411705 w 5646821"/>
              <a:gd name="connsiteY17" fmla="*/ 2053390 h 2454442"/>
              <a:gd name="connsiteX18" fmla="*/ 1499937 w 5646821"/>
              <a:gd name="connsiteY18" fmla="*/ 2013284 h 2454442"/>
              <a:gd name="connsiteX19" fmla="*/ 1540042 w 5646821"/>
              <a:gd name="connsiteY19" fmla="*/ 1989221 h 2454442"/>
              <a:gd name="connsiteX20" fmla="*/ 1572126 w 5646821"/>
              <a:gd name="connsiteY20" fmla="*/ 1981200 h 2454442"/>
              <a:gd name="connsiteX21" fmla="*/ 1652337 w 5646821"/>
              <a:gd name="connsiteY21" fmla="*/ 1949116 h 2454442"/>
              <a:gd name="connsiteX22" fmla="*/ 1700463 w 5646821"/>
              <a:gd name="connsiteY22" fmla="*/ 1933074 h 2454442"/>
              <a:gd name="connsiteX23" fmla="*/ 1836821 w 5646821"/>
              <a:gd name="connsiteY23" fmla="*/ 1884947 h 2454442"/>
              <a:gd name="connsiteX24" fmla="*/ 1957137 w 5646821"/>
              <a:gd name="connsiteY24" fmla="*/ 1844842 h 2454442"/>
              <a:gd name="connsiteX25" fmla="*/ 2013284 w 5646821"/>
              <a:gd name="connsiteY25" fmla="*/ 1820779 h 2454442"/>
              <a:gd name="connsiteX26" fmla="*/ 2109537 w 5646821"/>
              <a:gd name="connsiteY26" fmla="*/ 1804737 h 2454442"/>
              <a:gd name="connsiteX27" fmla="*/ 2181726 w 5646821"/>
              <a:gd name="connsiteY27" fmla="*/ 1780674 h 2454442"/>
              <a:gd name="connsiteX28" fmla="*/ 2310063 w 5646821"/>
              <a:gd name="connsiteY28" fmla="*/ 1748590 h 2454442"/>
              <a:gd name="connsiteX29" fmla="*/ 2446421 w 5646821"/>
              <a:gd name="connsiteY29" fmla="*/ 1732547 h 2454442"/>
              <a:gd name="connsiteX30" fmla="*/ 2518610 w 5646821"/>
              <a:gd name="connsiteY30" fmla="*/ 1716505 h 2454442"/>
              <a:gd name="connsiteX31" fmla="*/ 2598821 w 5646821"/>
              <a:gd name="connsiteY31" fmla="*/ 1692442 h 2454442"/>
              <a:gd name="connsiteX32" fmla="*/ 2839452 w 5646821"/>
              <a:gd name="connsiteY32" fmla="*/ 1628274 h 2454442"/>
              <a:gd name="connsiteX33" fmla="*/ 2863516 w 5646821"/>
              <a:gd name="connsiteY33" fmla="*/ 1620253 h 2454442"/>
              <a:gd name="connsiteX34" fmla="*/ 2927684 w 5646821"/>
              <a:gd name="connsiteY34" fmla="*/ 1596190 h 2454442"/>
              <a:gd name="connsiteX35" fmla="*/ 3048000 w 5646821"/>
              <a:gd name="connsiteY35" fmla="*/ 1572126 h 2454442"/>
              <a:gd name="connsiteX36" fmla="*/ 3264568 w 5646821"/>
              <a:gd name="connsiteY36" fmla="*/ 1499937 h 2454442"/>
              <a:gd name="connsiteX37" fmla="*/ 3400926 w 5646821"/>
              <a:gd name="connsiteY37" fmla="*/ 1459832 h 2454442"/>
              <a:gd name="connsiteX38" fmla="*/ 3424989 w 5646821"/>
              <a:gd name="connsiteY38" fmla="*/ 1451811 h 2454442"/>
              <a:gd name="connsiteX39" fmla="*/ 3513221 w 5646821"/>
              <a:gd name="connsiteY39" fmla="*/ 1427747 h 2454442"/>
              <a:gd name="connsiteX40" fmla="*/ 3537284 w 5646821"/>
              <a:gd name="connsiteY40" fmla="*/ 1419726 h 2454442"/>
              <a:gd name="connsiteX41" fmla="*/ 3617495 w 5646821"/>
              <a:gd name="connsiteY41" fmla="*/ 1403684 h 2454442"/>
              <a:gd name="connsiteX42" fmla="*/ 3641558 w 5646821"/>
              <a:gd name="connsiteY42" fmla="*/ 1395663 h 2454442"/>
              <a:gd name="connsiteX43" fmla="*/ 3793958 w 5646821"/>
              <a:gd name="connsiteY43" fmla="*/ 1339516 h 2454442"/>
              <a:gd name="connsiteX44" fmla="*/ 3866147 w 5646821"/>
              <a:gd name="connsiteY44" fmla="*/ 1315453 h 2454442"/>
              <a:gd name="connsiteX45" fmla="*/ 3930316 w 5646821"/>
              <a:gd name="connsiteY45" fmla="*/ 1283368 h 2454442"/>
              <a:gd name="connsiteX46" fmla="*/ 4090737 w 5646821"/>
              <a:gd name="connsiteY46" fmla="*/ 1235242 h 2454442"/>
              <a:gd name="connsiteX47" fmla="*/ 4178968 w 5646821"/>
              <a:gd name="connsiteY47" fmla="*/ 1195137 h 2454442"/>
              <a:gd name="connsiteX48" fmla="*/ 4267200 w 5646821"/>
              <a:gd name="connsiteY48" fmla="*/ 1155032 h 2454442"/>
              <a:gd name="connsiteX49" fmla="*/ 4291263 w 5646821"/>
              <a:gd name="connsiteY49" fmla="*/ 1147011 h 2454442"/>
              <a:gd name="connsiteX50" fmla="*/ 4363452 w 5646821"/>
              <a:gd name="connsiteY50" fmla="*/ 1114926 h 2454442"/>
              <a:gd name="connsiteX51" fmla="*/ 4459705 w 5646821"/>
              <a:gd name="connsiteY51" fmla="*/ 1066800 h 2454442"/>
              <a:gd name="connsiteX52" fmla="*/ 4483768 w 5646821"/>
              <a:gd name="connsiteY52" fmla="*/ 1050758 h 2454442"/>
              <a:gd name="connsiteX53" fmla="*/ 4523874 w 5646821"/>
              <a:gd name="connsiteY53" fmla="*/ 1026695 h 2454442"/>
              <a:gd name="connsiteX54" fmla="*/ 4604084 w 5646821"/>
              <a:gd name="connsiteY54" fmla="*/ 986590 h 2454442"/>
              <a:gd name="connsiteX55" fmla="*/ 4748463 w 5646821"/>
              <a:gd name="connsiteY55" fmla="*/ 906379 h 2454442"/>
              <a:gd name="connsiteX56" fmla="*/ 4772526 w 5646821"/>
              <a:gd name="connsiteY56" fmla="*/ 898358 h 2454442"/>
              <a:gd name="connsiteX57" fmla="*/ 4876800 w 5646821"/>
              <a:gd name="connsiteY57" fmla="*/ 826168 h 2454442"/>
              <a:gd name="connsiteX58" fmla="*/ 4981074 w 5646821"/>
              <a:gd name="connsiteY58" fmla="*/ 745958 h 2454442"/>
              <a:gd name="connsiteX59" fmla="*/ 5077326 w 5646821"/>
              <a:gd name="connsiteY59" fmla="*/ 673768 h 2454442"/>
              <a:gd name="connsiteX60" fmla="*/ 5157537 w 5646821"/>
              <a:gd name="connsiteY60" fmla="*/ 593558 h 2454442"/>
              <a:gd name="connsiteX61" fmla="*/ 5189621 w 5646821"/>
              <a:gd name="connsiteY61" fmla="*/ 561474 h 2454442"/>
              <a:gd name="connsiteX62" fmla="*/ 5253789 w 5646821"/>
              <a:gd name="connsiteY62" fmla="*/ 481263 h 2454442"/>
              <a:gd name="connsiteX63" fmla="*/ 5285874 w 5646821"/>
              <a:gd name="connsiteY63" fmla="*/ 441158 h 2454442"/>
              <a:gd name="connsiteX64" fmla="*/ 5325979 w 5646821"/>
              <a:gd name="connsiteY64" fmla="*/ 409074 h 2454442"/>
              <a:gd name="connsiteX65" fmla="*/ 5342021 w 5646821"/>
              <a:gd name="connsiteY65" fmla="*/ 385011 h 2454442"/>
              <a:gd name="connsiteX66" fmla="*/ 5406189 w 5646821"/>
              <a:gd name="connsiteY66" fmla="*/ 328863 h 2454442"/>
              <a:gd name="connsiteX67" fmla="*/ 5438274 w 5646821"/>
              <a:gd name="connsiteY67" fmla="*/ 288758 h 2454442"/>
              <a:gd name="connsiteX68" fmla="*/ 5486400 w 5646821"/>
              <a:gd name="connsiteY68" fmla="*/ 256674 h 2454442"/>
              <a:gd name="connsiteX69" fmla="*/ 5542547 w 5646821"/>
              <a:gd name="connsiteY69" fmla="*/ 192505 h 2454442"/>
              <a:gd name="connsiteX70" fmla="*/ 5558589 w 5646821"/>
              <a:gd name="connsiteY70" fmla="*/ 160421 h 2454442"/>
              <a:gd name="connsiteX71" fmla="*/ 5582652 w 5646821"/>
              <a:gd name="connsiteY71" fmla="*/ 128337 h 2454442"/>
              <a:gd name="connsiteX72" fmla="*/ 5598695 w 5646821"/>
              <a:gd name="connsiteY72" fmla="*/ 104274 h 2454442"/>
              <a:gd name="connsiteX73" fmla="*/ 5606716 w 5646821"/>
              <a:gd name="connsiteY73" fmla="*/ 80211 h 2454442"/>
              <a:gd name="connsiteX74" fmla="*/ 5622758 w 5646821"/>
              <a:gd name="connsiteY74" fmla="*/ 64168 h 2454442"/>
              <a:gd name="connsiteX75" fmla="*/ 5638800 w 5646821"/>
              <a:gd name="connsiteY75" fmla="*/ 16042 h 2454442"/>
              <a:gd name="connsiteX76" fmla="*/ 5646821 w 5646821"/>
              <a:gd name="connsiteY76" fmla="*/ 0 h 245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5646821" h="2454442">
                <a:moveTo>
                  <a:pt x="0" y="2454442"/>
                </a:moveTo>
                <a:cubicBezTo>
                  <a:pt x="48126" y="2451768"/>
                  <a:pt x="96551" y="2452400"/>
                  <a:pt x="144379" y="2446421"/>
                </a:cubicBezTo>
                <a:cubicBezTo>
                  <a:pt x="183074" y="2441584"/>
                  <a:pt x="192070" y="2427344"/>
                  <a:pt x="224589" y="2414337"/>
                </a:cubicBezTo>
                <a:cubicBezTo>
                  <a:pt x="240290" y="2408057"/>
                  <a:pt x="257263" y="2405163"/>
                  <a:pt x="272716" y="2398295"/>
                </a:cubicBezTo>
                <a:cubicBezTo>
                  <a:pt x="305495" y="2383726"/>
                  <a:pt x="334168" y="2358868"/>
                  <a:pt x="368968" y="2350168"/>
                </a:cubicBezTo>
                <a:cubicBezTo>
                  <a:pt x="379663" y="2347494"/>
                  <a:pt x="390817" y="2346241"/>
                  <a:pt x="401052" y="2342147"/>
                </a:cubicBezTo>
                <a:cubicBezTo>
                  <a:pt x="457439" y="2319593"/>
                  <a:pt x="436234" y="2318365"/>
                  <a:pt x="489284" y="2302042"/>
                </a:cubicBezTo>
                <a:cubicBezTo>
                  <a:pt x="527301" y="2290345"/>
                  <a:pt x="572012" y="2284053"/>
                  <a:pt x="609600" y="2269958"/>
                </a:cubicBezTo>
                <a:cubicBezTo>
                  <a:pt x="634256" y="2260712"/>
                  <a:pt x="656808" y="2246201"/>
                  <a:pt x="681789" y="2237874"/>
                </a:cubicBezTo>
                <a:cubicBezTo>
                  <a:pt x="705174" y="2230079"/>
                  <a:pt x="730009" y="2227585"/>
                  <a:pt x="753979" y="2221832"/>
                </a:cubicBezTo>
                <a:cubicBezTo>
                  <a:pt x="796857" y="2211541"/>
                  <a:pt x="839917" y="2201861"/>
                  <a:pt x="882316" y="2189747"/>
                </a:cubicBezTo>
                <a:cubicBezTo>
                  <a:pt x="901032" y="2184400"/>
                  <a:pt x="919497" y="2178082"/>
                  <a:pt x="938463" y="2173705"/>
                </a:cubicBezTo>
                <a:cubicBezTo>
                  <a:pt x="954310" y="2170048"/>
                  <a:pt x="970811" y="2169628"/>
                  <a:pt x="986589" y="2165684"/>
                </a:cubicBezTo>
                <a:cubicBezTo>
                  <a:pt x="1024356" y="2156242"/>
                  <a:pt x="1062433" y="2147269"/>
                  <a:pt x="1098884" y="2133600"/>
                </a:cubicBezTo>
                <a:cubicBezTo>
                  <a:pt x="1120273" y="2125579"/>
                  <a:pt x="1140815" y="2114769"/>
                  <a:pt x="1163052" y="2109537"/>
                </a:cubicBezTo>
                <a:cubicBezTo>
                  <a:pt x="1186620" y="2103992"/>
                  <a:pt x="1211179" y="2104190"/>
                  <a:pt x="1235242" y="2101516"/>
                </a:cubicBezTo>
                <a:cubicBezTo>
                  <a:pt x="1256631" y="2093495"/>
                  <a:pt x="1277337" y="2083339"/>
                  <a:pt x="1299410" y="2077453"/>
                </a:cubicBezTo>
                <a:cubicBezTo>
                  <a:pt x="1463293" y="2033751"/>
                  <a:pt x="1246299" y="2108527"/>
                  <a:pt x="1411705" y="2053390"/>
                </a:cubicBezTo>
                <a:cubicBezTo>
                  <a:pt x="1440123" y="2043917"/>
                  <a:pt x="1474234" y="2027304"/>
                  <a:pt x="1499937" y="2013284"/>
                </a:cubicBezTo>
                <a:cubicBezTo>
                  <a:pt x="1513623" y="2005819"/>
                  <a:pt x="1525796" y="1995553"/>
                  <a:pt x="1540042" y="1989221"/>
                </a:cubicBezTo>
                <a:cubicBezTo>
                  <a:pt x="1550116" y="1984744"/>
                  <a:pt x="1561744" y="1984908"/>
                  <a:pt x="1572126" y="1981200"/>
                </a:cubicBezTo>
                <a:cubicBezTo>
                  <a:pt x="1599245" y="1971515"/>
                  <a:pt x="1625018" y="1958222"/>
                  <a:pt x="1652337" y="1949116"/>
                </a:cubicBezTo>
                <a:cubicBezTo>
                  <a:pt x="1668379" y="1943769"/>
                  <a:pt x="1684538" y="1938761"/>
                  <a:pt x="1700463" y="1933074"/>
                </a:cubicBezTo>
                <a:cubicBezTo>
                  <a:pt x="1784092" y="1903206"/>
                  <a:pt x="1747722" y="1912791"/>
                  <a:pt x="1836821" y="1884947"/>
                </a:cubicBezTo>
                <a:cubicBezTo>
                  <a:pt x="1918790" y="1859331"/>
                  <a:pt x="1870217" y="1879610"/>
                  <a:pt x="1957137" y="1844842"/>
                </a:cubicBezTo>
                <a:cubicBezTo>
                  <a:pt x="1976043" y="1837280"/>
                  <a:pt x="1993592" y="1825961"/>
                  <a:pt x="2013284" y="1820779"/>
                </a:cubicBezTo>
                <a:cubicBezTo>
                  <a:pt x="2044740" y="1812501"/>
                  <a:pt x="2109537" y="1804737"/>
                  <a:pt x="2109537" y="1804737"/>
                </a:cubicBezTo>
                <a:cubicBezTo>
                  <a:pt x="2162906" y="1778053"/>
                  <a:pt x="2119531" y="1796223"/>
                  <a:pt x="2181726" y="1780674"/>
                </a:cubicBezTo>
                <a:cubicBezTo>
                  <a:pt x="2247793" y="1764157"/>
                  <a:pt x="2236326" y="1760880"/>
                  <a:pt x="2310063" y="1748590"/>
                </a:cubicBezTo>
                <a:cubicBezTo>
                  <a:pt x="2414045" y="1731259"/>
                  <a:pt x="2348996" y="1749740"/>
                  <a:pt x="2446421" y="1732547"/>
                </a:cubicBezTo>
                <a:cubicBezTo>
                  <a:pt x="2470696" y="1728263"/>
                  <a:pt x="2494772" y="1722778"/>
                  <a:pt x="2518610" y="1716505"/>
                </a:cubicBezTo>
                <a:cubicBezTo>
                  <a:pt x="2545605" y="1709401"/>
                  <a:pt x="2571826" y="1699546"/>
                  <a:pt x="2598821" y="1692442"/>
                </a:cubicBezTo>
                <a:cubicBezTo>
                  <a:pt x="2748351" y="1653092"/>
                  <a:pt x="2599129" y="1708378"/>
                  <a:pt x="2839452" y="1628274"/>
                </a:cubicBezTo>
                <a:cubicBezTo>
                  <a:pt x="2847473" y="1625600"/>
                  <a:pt x="2855570" y="1623142"/>
                  <a:pt x="2863516" y="1620253"/>
                </a:cubicBezTo>
                <a:cubicBezTo>
                  <a:pt x="2884984" y="1612446"/>
                  <a:pt x="2905580" y="1601956"/>
                  <a:pt x="2927684" y="1596190"/>
                </a:cubicBezTo>
                <a:cubicBezTo>
                  <a:pt x="2967259" y="1585866"/>
                  <a:pt x="3008674" y="1583362"/>
                  <a:pt x="3048000" y="1572126"/>
                </a:cubicBezTo>
                <a:cubicBezTo>
                  <a:pt x="3121166" y="1551221"/>
                  <a:pt x="3191566" y="1521408"/>
                  <a:pt x="3264568" y="1499937"/>
                </a:cubicBezTo>
                <a:lnTo>
                  <a:pt x="3400926" y="1459832"/>
                </a:lnTo>
                <a:cubicBezTo>
                  <a:pt x="3409024" y="1457403"/>
                  <a:pt x="3416859" y="1454134"/>
                  <a:pt x="3424989" y="1451811"/>
                </a:cubicBezTo>
                <a:cubicBezTo>
                  <a:pt x="3454301" y="1443436"/>
                  <a:pt x="3483909" y="1436122"/>
                  <a:pt x="3513221" y="1427747"/>
                </a:cubicBezTo>
                <a:cubicBezTo>
                  <a:pt x="3521351" y="1425424"/>
                  <a:pt x="3529046" y="1421627"/>
                  <a:pt x="3537284" y="1419726"/>
                </a:cubicBezTo>
                <a:cubicBezTo>
                  <a:pt x="3563852" y="1413595"/>
                  <a:pt x="3590927" y="1409815"/>
                  <a:pt x="3617495" y="1403684"/>
                </a:cubicBezTo>
                <a:cubicBezTo>
                  <a:pt x="3625733" y="1401783"/>
                  <a:pt x="3633612" y="1398552"/>
                  <a:pt x="3641558" y="1395663"/>
                </a:cubicBezTo>
                <a:lnTo>
                  <a:pt x="3793958" y="1339516"/>
                </a:lnTo>
                <a:cubicBezTo>
                  <a:pt x="3817845" y="1330985"/>
                  <a:pt x="3843460" y="1326797"/>
                  <a:pt x="3866147" y="1315453"/>
                </a:cubicBezTo>
                <a:cubicBezTo>
                  <a:pt x="3887537" y="1304758"/>
                  <a:pt x="3907795" y="1291411"/>
                  <a:pt x="3930316" y="1283368"/>
                </a:cubicBezTo>
                <a:cubicBezTo>
                  <a:pt x="3982892" y="1264591"/>
                  <a:pt x="4090737" y="1235242"/>
                  <a:pt x="4090737" y="1235242"/>
                </a:cubicBezTo>
                <a:cubicBezTo>
                  <a:pt x="4139598" y="1202668"/>
                  <a:pt x="4092051" y="1231733"/>
                  <a:pt x="4178968" y="1195137"/>
                </a:cubicBezTo>
                <a:cubicBezTo>
                  <a:pt x="4208743" y="1182600"/>
                  <a:pt x="4237506" y="1167758"/>
                  <a:pt x="4267200" y="1155032"/>
                </a:cubicBezTo>
                <a:cubicBezTo>
                  <a:pt x="4274971" y="1151701"/>
                  <a:pt x="4283459" y="1150263"/>
                  <a:pt x="4291263" y="1147011"/>
                </a:cubicBezTo>
                <a:cubicBezTo>
                  <a:pt x="4315570" y="1136883"/>
                  <a:pt x="4339677" y="1126247"/>
                  <a:pt x="4363452" y="1114926"/>
                </a:cubicBezTo>
                <a:cubicBezTo>
                  <a:pt x="4395839" y="1099504"/>
                  <a:pt x="4428054" y="1083681"/>
                  <a:pt x="4459705" y="1066800"/>
                </a:cubicBezTo>
                <a:cubicBezTo>
                  <a:pt x="4468211" y="1062264"/>
                  <a:pt x="4475593" y="1055867"/>
                  <a:pt x="4483768" y="1050758"/>
                </a:cubicBezTo>
                <a:cubicBezTo>
                  <a:pt x="4496989" y="1042495"/>
                  <a:pt x="4510118" y="1034032"/>
                  <a:pt x="4523874" y="1026695"/>
                </a:cubicBezTo>
                <a:cubicBezTo>
                  <a:pt x="4550250" y="1012628"/>
                  <a:pt x="4577734" y="1000706"/>
                  <a:pt x="4604084" y="986590"/>
                </a:cubicBezTo>
                <a:cubicBezTo>
                  <a:pt x="4652614" y="960592"/>
                  <a:pt x="4696234" y="923789"/>
                  <a:pt x="4748463" y="906379"/>
                </a:cubicBezTo>
                <a:cubicBezTo>
                  <a:pt x="4756484" y="903705"/>
                  <a:pt x="4765356" y="902839"/>
                  <a:pt x="4772526" y="898358"/>
                </a:cubicBezTo>
                <a:cubicBezTo>
                  <a:pt x="4808375" y="875952"/>
                  <a:pt x="4842167" y="850411"/>
                  <a:pt x="4876800" y="826168"/>
                </a:cubicBezTo>
                <a:cubicBezTo>
                  <a:pt x="5001946" y="738566"/>
                  <a:pt x="4868060" y="832891"/>
                  <a:pt x="4981074" y="745958"/>
                </a:cubicBezTo>
                <a:cubicBezTo>
                  <a:pt x="5011246" y="722749"/>
                  <a:pt x="5048966" y="700238"/>
                  <a:pt x="5077326" y="673768"/>
                </a:cubicBezTo>
                <a:cubicBezTo>
                  <a:pt x="5104968" y="647968"/>
                  <a:pt x="5130800" y="620295"/>
                  <a:pt x="5157537" y="593558"/>
                </a:cubicBezTo>
                <a:cubicBezTo>
                  <a:pt x="5168232" y="582863"/>
                  <a:pt x="5180173" y="573284"/>
                  <a:pt x="5189621" y="561474"/>
                </a:cubicBezTo>
                <a:lnTo>
                  <a:pt x="5253789" y="481263"/>
                </a:lnTo>
                <a:cubicBezTo>
                  <a:pt x="5264484" y="467895"/>
                  <a:pt x="5272506" y="451853"/>
                  <a:pt x="5285874" y="441158"/>
                </a:cubicBezTo>
                <a:cubicBezTo>
                  <a:pt x="5299242" y="430463"/>
                  <a:pt x="5313873" y="421180"/>
                  <a:pt x="5325979" y="409074"/>
                </a:cubicBezTo>
                <a:cubicBezTo>
                  <a:pt x="5332796" y="402257"/>
                  <a:pt x="5335673" y="392266"/>
                  <a:pt x="5342021" y="385011"/>
                </a:cubicBezTo>
                <a:cubicBezTo>
                  <a:pt x="5374867" y="347472"/>
                  <a:pt x="5373572" y="350608"/>
                  <a:pt x="5406189" y="328863"/>
                </a:cubicBezTo>
                <a:cubicBezTo>
                  <a:pt x="5416715" y="313074"/>
                  <a:pt x="5423033" y="300189"/>
                  <a:pt x="5438274" y="288758"/>
                </a:cubicBezTo>
                <a:cubicBezTo>
                  <a:pt x="5453698" y="277190"/>
                  <a:pt x="5486400" y="256674"/>
                  <a:pt x="5486400" y="256674"/>
                </a:cubicBezTo>
                <a:cubicBezTo>
                  <a:pt x="5523831" y="200526"/>
                  <a:pt x="5502442" y="219242"/>
                  <a:pt x="5542547" y="192505"/>
                </a:cubicBezTo>
                <a:cubicBezTo>
                  <a:pt x="5547894" y="181810"/>
                  <a:pt x="5552252" y="170561"/>
                  <a:pt x="5558589" y="160421"/>
                </a:cubicBezTo>
                <a:cubicBezTo>
                  <a:pt x="5565674" y="149085"/>
                  <a:pt x="5574882" y="139215"/>
                  <a:pt x="5582652" y="128337"/>
                </a:cubicBezTo>
                <a:cubicBezTo>
                  <a:pt x="5588255" y="120492"/>
                  <a:pt x="5593347" y="112295"/>
                  <a:pt x="5598695" y="104274"/>
                </a:cubicBezTo>
                <a:cubicBezTo>
                  <a:pt x="5601369" y="96253"/>
                  <a:pt x="5602366" y="87461"/>
                  <a:pt x="5606716" y="80211"/>
                </a:cubicBezTo>
                <a:cubicBezTo>
                  <a:pt x="5610607" y="73726"/>
                  <a:pt x="5619376" y="70932"/>
                  <a:pt x="5622758" y="64168"/>
                </a:cubicBezTo>
                <a:cubicBezTo>
                  <a:pt x="5630320" y="49043"/>
                  <a:pt x="5631238" y="31167"/>
                  <a:pt x="5638800" y="16042"/>
                </a:cubicBezTo>
                <a:lnTo>
                  <a:pt x="5646821" y="0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729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8"/>
            <a:ext cx="5082244" cy="4462380"/>
          </a:xfrm>
        </p:spPr>
        <p:txBody>
          <a:bodyPr anchor="t"/>
          <a:lstStyle/>
          <a:p>
            <a:r>
              <a:rPr lang="hu-HU" smtClean="0"/>
              <a:t>Mi ennek a hálózatnak a hálózat és szórási címe?</a:t>
            </a:r>
            <a:endParaRPr lang="hu-HU"/>
          </a:p>
          <a:p>
            <a:r>
              <a:rPr lang="hu-HU" smtClean="0"/>
              <a:t>Mennyi állomás van a hálózatban?</a:t>
            </a:r>
            <a:br>
              <a:rPr lang="hu-HU" smtClean="0"/>
            </a:br>
            <a:r>
              <a:rPr lang="hu-HU" smtClean="0"/>
              <a:t>A maszk a 3. oktetig terjed (24), 8 bit marad állomás résznek.</a:t>
            </a:r>
          </a:p>
          <a:p>
            <a:r>
              <a:rPr lang="hu-HU" smtClean="0"/>
              <a:t>2^8-2 = 254db állomáscím</a:t>
            </a:r>
          </a:p>
          <a:p>
            <a:r>
              <a:rPr lang="hu-HU" smtClean="0"/>
              <a:t>192.168.10.0 hálózatcím (állomás bitek 0 értékűek)</a:t>
            </a:r>
          </a:p>
          <a:p>
            <a:r>
              <a:rPr lang="hu-HU" smtClean="0"/>
              <a:t>192.168.10.255 szórási cím (állomás bitek 1 értékűek)</a:t>
            </a:r>
          </a:p>
          <a:p>
            <a:r>
              <a:rPr lang="hu-HU" smtClean="0"/>
              <a:t>Következő hálózat cím: 192.168.11.0</a:t>
            </a:r>
          </a:p>
          <a:p>
            <a:pPr lvl="1"/>
            <a:endParaRPr lang="hu-HU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484686"/>
              </p:ext>
            </p:extLst>
          </p:nvPr>
        </p:nvGraphicFramePr>
        <p:xfrm>
          <a:off x="6147887" y="2044477"/>
          <a:ext cx="5740400" cy="107442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graphicFrame>
        <p:nvGraphicFramePr>
          <p:cNvPr id="6" name="Tábláza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619769"/>
              </p:ext>
            </p:extLst>
          </p:nvPr>
        </p:nvGraphicFramePr>
        <p:xfrm>
          <a:off x="6732337" y="3631308"/>
          <a:ext cx="36870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753">
                  <a:extLst>
                    <a:ext uri="{9D8B030D-6E8A-4147-A177-3AD203B41FA5}">
                      <a16:colId xmlns:a16="http://schemas.microsoft.com/office/drawing/2014/main" val="1031418070"/>
                    </a:ext>
                  </a:extLst>
                </a:gridCol>
                <a:gridCol w="921753">
                  <a:extLst>
                    <a:ext uri="{9D8B030D-6E8A-4147-A177-3AD203B41FA5}">
                      <a16:colId xmlns:a16="http://schemas.microsoft.com/office/drawing/2014/main" val="3146399361"/>
                    </a:ext>
                  </a:extLst>
                </a:gridCol>
                <a:gridCol w="921753">
                  <a:extLst>
                    <a:ext uri="{9D8B030D-6E8A-4147-A177-3AD203B41FA5}">
                      <a16:colId xmlns:a16="http://schemas.microsoft.com/office/drawing/2014/main" val="57050602"/>
                    </a:ext>
                  </a:extLst>
                </a:gridCol>
                <a:gridCol w="921753">
                  <a:extLst>
                    <a:ext uri="{9D8B030D-6E8A-4147-A177-3AD203B41FA5}">
                      <a16:colId xmlns:a16="http://schemas.microsoft.com/office/drawing/2014/main" val="1454394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smtClean="0"/>
                        <a:t>8bit h.</a:t>
                      </a:r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mtClean="0"/>
                        <a:t>8bit h.</a:t>
                      </a:r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mtClean="0"/>
                        <a:t>8 bit h.</a:t>
                      </a:r>
                      <a:endParaRPr lang="hu-H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mtClean="0"/>
                        <a:t>8bit á.</a:t>
                      </a:r>
                      <a:endParaRPr lang="hu-HU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426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19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8"/>
            <a:ext cx="5082244" cy="4462380"/>
          </a:xfrm>
        </p:spPr>
        <p:txBody>
          <a:bodyPr anchor="t"/>
          <a:lstStyle/>
          <a:p>
            <a:r>
              <a:rPr lang="hu-HU" smtClean="0"/>
              <a:t>Oszd fel a hálózatot több alhálózatra úgy, hogy a következő számú állomást lehessen bennük megcímezni:</a:t>
            </a:r>
          </a:p>
          <a:p>
            <a:r>
              <a:rPr lang="hu-HU" smtClean="0"/>
              <a:t>L1:122</a:t>
            </a:r>
          </a:p>
          <a:p>
            <a:r>
              <a:rPr lang="hu-HU" smtClean="0"/>
              <a:t>L2:52</a:t>
            </a:r>
          </a:p>
          <a:p>
            <a:r>
              <a:rPr lang="hu-HU" smtClean="0"/>
              <a:t>L3:20</a:t>
            </a:r>
          </a:p>
          <a:p>
            <a:r>
              <a:rPr lang="hu-HU" smtClean="0"/>
              <a:t>L4:13</a:t>
            </a:r>
          </a:p>
          <a:p>
            <a:r>
              <a:rPr lang="hu-HU" smtClean="0"/>
              <a:t>L5:5</a:t>
            </a:r>
          </a:p>
          <a:p>
            <a:r>
              <a:rPr lang="hu-HU" smtClean="0"/>
              <a:t>L6:192.168.10.64/30, ezt már felhasználták egy hálózatban.</a:t>
            </a:r>
          </a:p>
          <a:p>
            <a:pPr lvl="1"/>
            <a:endParaRPr lang="hu-HU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767442"/>
              </p:ext>
            </p:extLst>
          </p:nvPr>
        </p:nvGraphicFramePr>
        <p:xfrm>
          <a:off x="6147887" y="2044477"/>
          <a:ext cx="5740400" cy="107442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21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8"/>
            <a:ext cx="5082244" cy="4462380"/>
          </a:xfrm>
        </p:spPr>
        <p:txBody>
          <a:bodyPr anchor="t"/>
          <a:lstStyle/>
          <a:p>
            <a:r>
              <a:rPr lang="hu-HU" smtClean="0"/>
              <a:t>Írd le az L4 alhálózat tulajdonságait:</a:t>
            </a:r>
          </a:p>
          <a:p>
            <a:r>
              <a:rPr lang="hu-HU" smtClean="0"/>
              <a:t>Hálózat címe:</a:t>
            </a:r>
          </a:p>
          <a:p>
            <a:r>
              <a:rPr lang="hu-HU" smtClean="0"/>
              <a:t>Első használható cím:</a:t>
            </a:r>
          </a:p>
          <a:p>
            <a:r>
              <a:rPr lang="hu-HU" smtClean="0"/>
              <a:t>Utolsó használható cím:</a:t>
            </a:r>
          </a:p>
          <a:p>
            <a:r>
              <a:rPr lang="hu-HU" smtClean="0"/>
              <a:t>Szórási cím:</a:t>
            </a:r>
          </a:p>
          <a:p>
            <a:r>
              <a:rPr lang="hu-HU" smtClean="0"/>
              <a:t>Alhálózati maszk:</a:t>
            </a:r>
          </a:p>
          <a:p>
            <a:r>
              <a:rPr lang="hu-HU" smtClean="0"/>
              <a:t>Állomásoknak kiosztható címek száma:</a:t>
            </a:r>
          </a:p>
          <a:p>
            <a:pPr lvl="1"/>
            <a:endParaRPr lang="hu-HU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767442"/>
              </p:ext>
            </p:extLst>
          </p:nvPr>
        </p:nvGraphicFramePr>
        <p:xfrm>
          <a:off x="6147887" y="2044477"/>
          <a:ext cx="5740400" cy="107442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03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8"/>
            <a:ext cx="5082244" cy="4813522"/>
          </a:xfrm>
        </p:spPr>
        <p:txBody>
          <a:bodyPr anchor="t">
            <a:normAutofit lnSpcReduction="10000"/>
          </a:bodyPr>
          <a:lstStyle/>
          <a:p>
            <a:r>
              <a:rPr lang="hu-HU" smtClean="0"/>
              <a:t>Megoldás: </a:t>
            </a:r>
            <a:br>
              <a:rPr lang="hu-HU" smtClean="0"/>
            </a:br>
            <a:r>
              <a:rPr lang="hu-HU" smtClean="0"/>
              <a:t>A hálózat címeinek száma csak kettő valamely hatványa lehet. </a:t>
            </a:r>
            <a:br>
              <a:rPr lang="hu-HU" smtClean="0"/>
            </a:br>
            <a:r>
              <a:rPr lang="hu-HU" smtClean="0"/>
              <a:t>Választani kell a táblázatból egy olyat, amibe „belefér.”</a:t>
            </a:r>
            <a:br>
              <a:rPr lang="hu-HU" smtClean="0"/>
            </a:br>
            <a:r>
              <a:rPr lang="hu-HU" smtClean="0"/>
              <a:t>Állomások száma&gt;=2hatványa -2</a:t>
            </a:r>
          </a:p>
          <a:p>
            <a:r>
              <a:rPr lang="hu-HU" smtClean="0"/>
              <a:t>L1:122 (128 -2) </a:t>
            </a:r>
          </a:p>
          <a:p>
            <a:r>
              <a:rPr lang="hu-HU" smtClean="0"/>
              <a:t>L2:52 (64-2)</a:t>
            </a:r>
          </a:p>
          <a:p>
            <a:r>
              <a:rPr lang="hu-HU" smtClean="0"/>
              <a:t>L3:20 (32-2)</a:t>
            </a:r>
          </a:p>
          <a:p>
            <a:r>
              <a:rPr lang="hu-HU" smtClean="0"/>
              <a:t>L4:13 (16-2)</a:t>
            </a:r>
          </a:p>
          <a:p>
            <a:r>
              <a:rPr lang="hu-HU" smtClean="0"/>
              <a:t>L5:5 (8-2)</a:t>
            </a:r>
          </a:p>
          <a:p>
            <a:r>
              <a:rPr lang="hu-HU" smtClean="0"/>
              <a:t>L6:192.168.10.64/30, ezt már felhasználták egy hálózatban.</a:t>
            </a:r>
          </a:p>
          <a:p>
            <a:pPr lvl="1"/>
            <a:endParaRPr lang="hu-HU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387343"/>
              </p:ext>
            </p:extLst>
          </p:nvPr>
        </p:nvGraphicFramePr>
        <p:xfrm>
          <a:off x="6147887" y="2044477"/>
          <a:ext cx="5740400" cy="1169136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1" name="Szövegdoboz 10"/>
          <p:cNvSpPr txBox="1"/>
          <p:nvPr/>
        </p:nvSpPr>
        <p:spPr>
          <a:xfrm>
            <a:off x="6322979" y="3822970"/>
            <a:ext cx="4620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A táblázat most az utolsó oktetet szimbolizálja, mert az állomás részt osztjuk fel további alhálózatokra, amelyekben kevesebb állomás van az eredeti hálózaténál, de teljes számuk nem lehet annál nagyobb.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257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8"/>
            <a:ext cx="5082244" cy="4813522"/>
          </a:xfrm>
        </p:spPr>
        <p:txBody>
          <a:bodyPr anchor="t">
            <a:normAutofit/>
          </a:bodyPr>
          <a:lstStyle/>
          <a:p>
            <a:r>
              <a:rPr lang="hu-HU" smtClean="0"/>
              <a:t>Következő lépésben rajzolunk egy négyzetet, és beleírjuk a hálózat és a szórás címét.</a:t>
            </a:r>
          </a:p>
          <a:p>
            <a:r>
              <a:rPr lang="hu-HU" smtClean="0"/>
              <a:t>Ez jelenti a hálózatot, az összes benne lévő címmel. Ez így 256db cím, 8 bit.</a:t>
            </a:r>
          </a:p>
          <a:p>
            <a:r>
              <a:rPr lang="hu-HU" smtClean="0"/>
              <a:t>192.168.10.1</a:t>
            </a:r>
          </a:p>
          <a:p>
            <a:r>
              <a:rPr lang="hu-HU" smtClean="0"/>
              <a:t>192.168.10.2</a:t>
            </a:r>
          </a:p>
          <a:p>
            <a:r>
              <a:rPr lang="hu-HU" smtClean="0"/>
              <a:t>...255, ami a szórási cím</a:t>
            </a:r>
          </a:p>
          <a:p>
            <a:r>
              <a:rPr lang="hu-HU" smtClean="0"/>
              <a:t>A maszk /24</a:t>
            </a:r>
          </a:p>
          <a:p>
            <a:pPr lvl="1"/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87765" y="2044477"/>
            <a:ext cx="5340485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731540" y="21789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8" name="Szövegdoboz 7"/>
          <p:cNvSpPr txBox="1"/>
          <p:nvPr/>
        </p:nvSpPr>
        <p:spPr>
          <a:xfrm>
            <a:off x="9629923" y="6211669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953983" y="3931962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/24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583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7"/>
            <a:ext cx="5082244" cy="3448165"/>
          </a:xfrm>
        </p:spPr>
        <p:txBody>
          <a:bodyPr anchor="t">
            <a:normAutofit lnSpcReduction="10000"/>
          </a:bodyPr>
          <a:lstStyle/>
          <a:p>
            <a:r>
              <a:rPr lang="hu-HU" smtClean="0"/>
              <a:t>Következő lépésben felosztjuk ezt a hálózatot -elveszünk egy bitet az állomás részből, így létrejön két hálózat /25 maszkkal.</a:t>
            </a:r>
          </a:p>
          <a:p>
            <a:r>
              <a:rPr lang="hu-HU" smtClean="0"/>
              <a:t>A táblázat az utolsó oktet, egy bitet elveszünk balról, ami megmutatja, hogy a következő hálózat 128 -nál kezdődik, ezt beírjuk.</a:t>
            </a:r>
          </a:p>
          <a:p>
            <a:r>
              <a:rPr lang="hu-HU" smtClean="0"/>
              <a:t>A szórási címe az előző hálózatnak eggyel kisebb, ezt is beírjuk.</a:t>
            </a:r>
          </a:p>
          <a:p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87765" y="2044477"/>
            <a:ext cx="5340485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731540" y="21789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8" name="Szövegdoboz 7"/>
          <p:cNvSpPr txBox="1"/>
          <p:nvPr/>
        </p:nvSpPr>
        <p:spPr>
          <a:xfrm>
            <a:off x="9915268" y="6221396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117404" y="393196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10538298" y="39992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cxnSp>
        <p:nvCxnSpPr>
          <p:cNvPr id="13" name="Egyenes összekötő 12"/>
          <p:cNvCxnSpPr>
            <a:stCxn id="5" idx="0"/>
            <a:endCxn id="5" idx="0"/>
          </p:cNvCxnSpPr>
          <p:nvPr/>
        </p:nvCxnSpPr>
        <p:spPr>
          <a:xfrm>
            <a:off x="9358008" y="20444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>
            <a:stCxn id="5" idx="0"/>
          </p:cNvCxnSpPr>
          <p:nvPr/>
        </p:nvCxnSpPr>
        <p:spPr>
          <a:xfrm>
            <a:off x="9358008" y="2044477"/>
            <a:ext cx="19456" cy="470651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93821"/>
              </p:ext>
            </p:extLst>
          </p:nvPr>
        </p:nvGraphicFramePr>
        <p:xfrm>
          <a:off x="783615" y="5492643"/>
          <a:ext cx="5740400" cy="11999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99456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8" name="Szövegdoboz 17"/>
          <p:cNvSpPr txBox="1"/>
          <p:nvPr/>
        </p:nvSpPr>
        <p:spPr>
          <a:xfrm>
            <a:off x="9483306" y="2178996"/>
            <a:ext cx="229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192.168.10.128 h.</a:t>
            </a:r>
            <a:endParaRPr lang="hu-HU"/>
          </a:p>
        </p:txBody>
      </p:sp>
      <p:sp>
        <p:nvSpPr>
          <p:cNvPr id="19" name="Szövegdoboz 18"/>
          <p:cNvSpPr txBox="1"/>
          <p:nvPr/>
        </p:nvSpPr>
        <p:spPr>
          <a:xfrm>
            <a:off x="7180630" y="6260147"/>
            <a:ext cx="226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192.168.10.127 sz.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65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7"/>
            <a:ext cx="5082244" cy="3448165"/>
          </a:xfrm>
        </p:spPr>
        <p:txBody>
          <a:bodyPr anchor="t">
            <a:normAutofit/>
          </a:bodyPr>
          <a:lstStyle/>
          <a:p>
            <a:r>
              <a:rPr lang="hu-HU" smtClean="0"/>
              <a:t>Valamelyik rész az L1 -es hálózat lesz.</a:t>
            </a:r>
          </a:p>
          <a:p>
            <a:r>
              <a:rPr lang="hu-HU" smtClean="0"/>
              <a:t>Mivel L6:192.168.10.64/30 a bal oldali tartományban van, így L1 a jobb oldali részt fogja elfoglalni.</a:t>
            </a:r>
          </a:p>
          <a:p>
            <a:endParaRPr lang="hu-HU" smtClean="0"/>
          </a:p>
          <a:p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87765" y="2044477"/>
            <a:ext cx="5340485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731540" y="21789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8" name="Szövegdoboz 7"/>
          <p:cNvSpPr txBox="1"/>
          <p:nvPr/>
        </p:nvSpPr>
        <p:spPr>
          <a:xfrm>
            <a:off x="9915268" y="6221396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117404" y="393196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10538298" y="39992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cxnSp>
        <p:nvCxnSpPr>
          <p:cNvPr id="13" name="Egyenes összekötő 12"/>
          <p:cNvCxnSpPr>
            <a:stCxn id="5" idx="0"/>
            <a:endCxn id="5" idx="0"/>
          </p:cNvCxnSpPr>
          <p:nvPr/>
        </p:nvCxnSpPr>
        <p:spPr>
          <a:xfrm>
            <a:off x="9358008" y="20444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>
            <a:stCxn id="5" idx="0"/>
          </p:cNvCxnSpPr>
          <p:nvPr/>
        </p:nvCxnSpPr>
        <p:spPr>
          <a:xfrm>
            <a:off x="9358008" y="2044477"/>
            <a:ext cx="19456" cy="470651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93821"/>
              </p:ext>
            </p:extLst>
          </p:nvPr>
        </p:nvGraphicFramePr>
        <p:xfrm>
          <a:off x="783615" y="5492643"/>
          <a:ext cx="5740400" cy="11999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99456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8" name="Szövegdoboz 17"/>
          <p:cNvSpPr txBox="1"/>
          <p:nvPr/>
        </p:nvSpPr>
        <p:spPr>
          <a:xfrm>
            <a:off x="9483306" y="2178996"/>
            <a:ext cx="229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192.168.10.128 h.</a:t>
            </a:r>
            <a:endParaRPr lang="hu-HU"/>
          </a:p>
        </p:txBody>
      </p:sp>
      <p:sp>
        <p:nvSpPr>
          <p:cNvPr id="19" name="Szövegdoboz 18"/>
          <p:cNvSpPr txBox="1"/>
          <p:nvPr/>
        </p:nvSpPr>
        <p:spPr>
          <a:xfrm>
            <a:off x="7180630" y="6260147"/>
            <a:ext cx="226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192.168.10.127 sz.</a:t>
            </a:r>
            <a:endParaRPr lang="hu-HU"/>
          </a:p>
        </p:txBody>
      </p:sp>
      <p:sp>
        <p:nvSpPr>
          <p:cNvPr id="14" name="Szövegdoboz 13"/>
          <p:cNvSpPr txBox="1"/>
          <p:nvPr/>
        </p:nvSpPr>
        <p:spPr>
          <a:xfrm>
            <a:off x="10250751" y="3105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L1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025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7"/>
            <a:ext cx="5082244" cy="3448165"/>
          </a:xfrm>
        </p:spPr>
        <p:txBody>
          <a:bodyPr anchor="t">
            <a:normAutofit lnSpcReduction="10000"/>
          </a:bodyPr>
          <a:lstStyle/>
          <a:p>
            <a:r>
              <a:rPr lang="hu-HU"/>
              <a:t>Következő lépésben felosztjuk ezt a hálózatot -elveszünk egy bitet az állomás részből, így létrejön két hálózat /</a:t>
            </a:r>
            <a:r>
              <a:rPr lang="hu-HU" smtClean="0"/>
              <a:t>26 </a:t>
            </a:r>
            <a:r>
              <a:rPr lang="hu-HU"/>
              <a:t>maszkkal.</a:t>
            </a:r>
          </a:p>
          <a:p>
            <a:r>
              <a:rPr lang="hu-HU"/>
              <a:t>A táblázat az utolsó oktet, egy bitet elveszünk balról, ami megmutatja, hogy a következő hálózat </a:t>
            </a:r>
            <a:r>
              <a:rPr lang="hu-HU" smtClean="0"/>
              <a:t>64 </a:t>
            </a:r>
            <a:r>
              <a:rPr lang="hu-HU"/>
              <a:t>-</a:t>
            </a:r>
            <a:r>
              <a:rPr lang="hu-HU" smtClean="0"/>
              <a:t>nél </a:t>
            </a:r>
            <a:r>
              <a:rPr lang="hu-HU"/>
              <a:t>kezdődik, ezt beírjuk.</a:t>
            </a:r>
          </a:p>
          <a:p>
            <a:r>
              <a:rPr lang="hu-HU"/>
              <a:t>A szórási címe az előző hálózatnak eggyel kisebb, ezt is beírjuk.</a:t>
            </a:r>
          </a:p>
          <a:p>
            <a:endParaRPr lang="hu-HU" smtClean="0"/>
          </a:p>
          <a:p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87765" y="2044477"/>
            <a:ext cx="5340485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613998" y="4555579"/>
            <a:ext cx="258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192.168.10.64 h.</a:t>
            </a:r>
            <a:endParaRPr lang="hu-HU"/>
          </a:p>
        </p:txBody>
      </p:sp>
      <p:sp>
        <p:nvSpPr>
          <p:cNvPr id="8" name="Szövegdoboz 7"/>
          <p:cNvSpPr txBox="1"/>
          <p:nvPr/>
        </p:nvSpPr>
        <p:spPr>
          <a:xfrm>
            <a:off x="9915268" y="6221396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550107" y="306102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/26</a:t>
            </a:r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10538298" y="39992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cxnSp>
        <p:nvCxnSpPr>
          <p:cNvPr id="13" name="Egyenes összekötő 12"/>
          <p:cNvCxnSpPr>
            <a:stCxn id="5" idx="0"/>
            <a:endCxn id="5" idx="0"/>
          </p:cNvCxnSpPr>
          <p:nvPr/>
        </p:nvCxnSpPr>
        <p:spPr>
          <a:xfrm>
            <a:off x="9358008" y="20444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>
            <a:stCxn id="5" idx="0"/>
          </p:cNvCxnSpPr>
          <p:nvPr/>
        </p:nvCxnSpPr>
        <p:spPr>
          <a:xfrm>
            <a:off x="9358008" y="2044477"/>
            <a:ext cx="19456" cy="470651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226055"/>
              </p:ext>
            </p:extLst>
          </p:nvPr>
        </p:nvGraphicFramePr>
        <p:xfrm>
          <a:off x="783615" y="5492643"/>
          <a:ext cx="5740400" cy="11999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99456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8" name="Szövegdoboz 17"/>
          <p:cNvSpPr txBox="1"/>
          <p:nvPr/>
        </p:nvSpPr>
        <p:spPr>
          <a:xfrm>
            <a:off x="9483306" y="2178996"/>
            <a:ext cx="229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192.168.10.128 h.</a:t>
            </a:r>
            <a:endParaRPr lang="hu-HU"/>
          </a:p>
        </p:txBody>
      </p:sp>
      <p:sp>
        <p:nvSpPr>
          <p:cNvPr id="19" name="Szövegdoboz 18"/>
          <p:cNvSpPr txBox="1"/>
          <p:nvPr/>
        </p:nvSpPr>
        <p:spPr>
          <a:xfrm>
            <a:off x="7180630" y="6260147"/>
            <a:ext cx="226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192.168.10.127 sz.</a:t>
            </a:r>
            <a:endParaRPr lang="hu-HU"/>
          </a:p>
        </p:txBody>
      </p:sp>
      <p:sp>
        <p:nvSpPr>
          <p:cNvPr id="14" name="Szövegdoboz 13"/>
          <p:cNvSpPr txBox="1"/>
          <p:nvPr/>
        </p:nvSpPr>
        <p:spPr>
          <a:xfrm>
            <a:off x="10250751" y="3105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L1</a:t>
            </a:r>
            <a:endParaRPr lang="hu-HU"/>
          </a:p>
        </p:txBody>
      </p:sp>
      <p:cxnSp>
        <p:nvCxnSpPr>
          <p:cNvPr id="7" name="Egyenes összekötő 6"/>
          <p:cNvCxnSpPr>
            <a:stCxn id="5" idx="1"/>
          </p:cNvCxnSpPr>
          <p:nvPr/>
        </p:nvCxnSpPr>
        <p:spPr>
          <a:xfrm>
            <a:off x="6687765" y="4368554"/>
            <a:ext cx="2739187" cy="2918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7561760" y="538640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/26</a:t>
            </a:r>
            <a:endParaRPr lang="hu-HU"/>
          </a:p>
        </p:txBody>
      </p:sp>
      <p:sp>
        <p:nvSpPr>
          <p:cNvPr id="20" name="Szövegdoboz 19"/>
          <p:cNvSpPr txBox="1"/>
          <p:nvPr/>
        </p:nvSpPr>
        <p:spPr>
          <a:xfrm>
            <a:off x="6883940" y="23313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21" name="Szövegdoboz 20"/>
          <p:cNvSpPr txBox="1"/>
          <p:nvPr/>
        </p:nvSpPr>
        <p:spPr>
          <a:xfrm>
            <a:off x="6986337" y="3913185"/>
            <a:ext cx="234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192.168.10.63 h.</a:t>
            </a:r>
            <a:endParaRPr lang="hu-HU"/>
          </a:p>
        </p:txBody>
      </p:sp>
      <p:cxnSp>
        <p:nvCxnSpPr>
          <p:cNvPr id="12" name="Egyenes összekötő nyíllal 11"/>
          <p:cNvCxnSpPr/>
          <p:nvPr/>
        </p:nvCxnSpPr>
        <p:spPr>
          <a:xfrm>
            <a:off x="4036979" y="4282517"/>
            <a:ext cx="2846961" cy="273062"/>
          </a:xfrm>
          <a:prstGeom prst="straightConnector1">
            <a:avLst/>
          </a:prstGeom>
          <a:ln w="47625">
            <a:solidFill>
              <a:schemeClr val="accent6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nyíllal 24"/>
          <p:cNvCxnSpPr>
            <a:endCxn id="21" idx="1"/>
          </p:cNvCxnSpPr>
          <p:nvPr/>
        </p:nvCxnSpPr>
        <p:spPr>
          <a:xfrm flipV="1">
            <a:off x="5009745" y="4097851"/>
            <a:ext cx="1976592" cy="979987"/>
          </a:xfrm>
          <a:prstGeom prst="straightConnector1">
            <a:avLst/>
          </a:prstGeom>
          <a:ln w="44450">
            <a:solidFill>
              <a:schemeClr val="accent6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53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7"/>
            <a:ext cx="5082244" cy="3448165"/>
          </a:xfrm>
        </p:spPr>
        <p:txBody>
          <a:bodyPr anchor="t">
            <a:normAutofit/>
          </a:bodyPr>
          <a:lstStyle/>
          <a:p>
            <a:r>
              <a:rPr lang="hu-HU"/>
              <a:t>Valamelyik rész az </a:t>
            </a:r>
            <a:r>
              <a:rPr lang="hu-HU" smtClean="0"/>
              <a:t>L2 </a:t>
            </a:r>
            <a:r>
              <a:rPr lang="hu-HU"/>
              <a:t>-es hálózat lesz.</a:t>
            </a:r>
          </a:p>
          <a:p>
            <a:r>
              <a:rPr lang="hu-HU"/>
              <a:t>Mivel L6:192.168.10.64/30 a </a:t>
            </a:r>
            <a:r>
              <a:rPr lang="hu-HU" smtClean="0"/>
              <a:t>lenti tartományban </a:t>
            </a:r>
            <a:r>
              <a:rPr lang="hu-HU"/>
              <a:t>van, így </a:t>
            </a:r>
            <a:r>
              <a:rPr lang="hu-HU" smtClean="0"/>
              <a:t>L2 </a:t>
            </a:r>
            <a:r>
              <a:rPr lang="hu-HU"/>
              <a:t>a </a:t>
            </a:r>
            <a:r>
              <a:rPr lang="hu-HU" smtClean="0"/>
              <a:t>bal felső </a:t>
            </a:r>
            <a:r>
              <a:rPr lang="hu-HU"/>
              <a:t>részt fogja elfoglalni.</a:t>
            </a:r>
          </a:p>
          <a:p>
            <a:endParaRPr lang="hu-HU" smtClean="0"/>
          </a:p>
          <a:p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87765" y="2044477"/>
            <a:ext cx="5340485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613998" y="4555579"/>
            <a:ext cx="258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192.168.10.64 h.</a:t>
            </a:r>
            <a:endParaRPr lang="hu-HU"/>
          </a:p>
        </p:txBody>
      </p:sp>
      <p:sp>
        <p:nvSpPr>
          <p:cNvPr id="8" name="Szövegdoboz 7"/>
          <p:cNvSpPr txBox="1"/>
          <p:nvPr/>
        </p:nvSpPr>
        <p:spPr>
          <a:xfrm>
            <a:off x="9915268" y="6221396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550107" y="3061023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/26</a:t>
            </a:r>
            <a:br>
              <a:rPr lang="hu-HU" smtClean="0"/>
            </a:br>
            <a:r>
              <a:rPr lang="hu-HU" smtClean="0"/>
              <a:t>L2</a:t>
            </a:r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10538298" y="39992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cxnSp>
        <p:nvCxnSpPr>
          <p:cNvPr id="13" name="Egyenes összekötő 12"/>
          <p:cNvCxnSpPr>
            <a:stCxn id="5" idx="0"/>
            <a:endCxn id="5" idx="0"/>
          </p:cNvCxnSpPr>
          <p:nvPr/>
        </p:nvCxnSpPr>
        <p:spPr>
          <a:xfrm>
            <a:off x="9358008" y="20444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>
            <a:stCxn id="5" idx="0"/>
          </p:cNvCxnSpPr>
          <p:nvPr/>
        </p:nvCxnSpPr>
        <p:spPr>
          <a:xfrm>
            <a:off x="9358008" y="2044477"/>
            <a:ext cx="19456" cy="470651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226055"/>
              </p:ext>
            </p:extLst>
          </p:nvPr>
        </p:nvGraphicFramePr>
        <p:xfrm>
          <a:off x="783615" y="5492643"/>
          <a:ext cx="5740400" cy="11999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99456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8" name="Szövegdoboz 17"/>
          <p:cNvSpPr txBox="1"/>
          <p:nvPr/>
        </p:nvSpPr>
        <p:spPr>
          <a:xfrm>
            <a:off x="9483306" y="2178996"/>
            <a:ext cx="229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192.168.10.128 h.</a:t>
            </a:r>
            <a:endParaRPr lang="hu-HU"/>
          </a:p>
        </p:txBody>
      </p:sp>
      <p:sp>
        <p:nvSpPr>
          <p:cNvPr id="19" name="Szövegdoboz 18"/>
          <p:cNvSpPr txBox="1"/>
          <p:nvPr/>
        </p:nvSpPr>
        <p:spPr>
          <a:xfrm>
            <a:off x="7180630" y="6260147"/>
            <a:ext cx="226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192.168.10.127 sz.</a:t>
            </a:r>
            <a:endParaRPr lang="hu-HU"/>
          </a:p>
        </p:txBody>
      </p:sp>
      <p:sp>
        <p:nvSpPr>
          <p:cNvPr id="14" name="Szövegdoboz 13"/>
          <p:cNvSpPr txBox="1"/>
          <p:nvPr/>
        </p:nvSpPr>
        <p:spPr>
          <a:xfrm>
            <a:off x="10250751" y="3105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L1</a:t>
            </a:r>
            <a:endParaRPr lang="hu-HU"/>
          </a:p>
        </p:txBody>
      </p:sp>
      <p:cxnSp>
        <p:nvCxnSpPr>
          <p:cNvPr id="7" name="Egyenes összekötő 6"/>
          <p:cNvCxnSpPr>
            <a:stCxn id="5" idx="1"/>
          </p:cNvCxnSpPr>
          <p:nvPr/>
        </p:nvCxnSpPr>
        <p:spPr>
          <a:xfrm>
            <a:off x="6687765" y="4368554"/>
            <a:ext cx="2739187" cy="2918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7561760" y="538640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/26</a:t>
            </a:r>
            <a:endParaRPr lang="hu-HU"/>
          </a:p>
        </p:txBody>
      </p:sp>
      <p:sp>
        <p:nvSpPr>
          <p:cNvPr id="20" name="Szövegdoboz 19"/>
          <p:cNvSpPr txBox="1"/>
          <p:nvPr/>
        </p:nvSpPr>
        <p:spPr>
          <a:xfrm>
            <a:off x="6883940" y="23313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21" name="Szövegdoboz 20"/>
          <p:cNvSpPr txBox="1"/>
          <p:nvPr/>
        </p:nvSpPr>
        <p:spPr>
          <a:xfrm>
            <a:off x="6986337" y="3913185"/>
            <a:ext cx="234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192.168.10.63 h.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155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7"/>
            <a:ext cx="5082244" cy="3448165"/>
          </a:xfrm>
        </p:spPr>
        <p:txBody>
          <a:bodyPr anchor="t">
            <a:normAutofit fontScale="92500" lnSpcReduction="10000"/>
          </a:bodyPr>
          <a:lstStyle/>
          <a:p>
            <a:r>
              <a:rPr lang="hu-HU"/>
              <a:t>Következő lépésben </a:t>
            </a:r>
            <a:r>
              <a:rPr lang="hu-HU" smtClean="0"/>
              <a:t>tovább osztjuk a bal lenti hálózatot </a:t>
            </a:r>
            <a:r>
              <a:rPr lang="hu-HU"/>
              <a:t>-elveszünk egy bitet az állomás részből, így létrejön két hálózat /</a:t>
            </a:r>
            <a:r>
              <a:rPr lang="hu-HU" smtClean="0"/>
              <a:t>27 </a:t>
            </a:r>
            <a:r>
              <a:rPr lang="hu-HU"/>
              <a:t>maszkkal.</a:t>
            </a:r>
          </a:p>
          <a:p>
            <a:r>
              <a:rPr lang="hu-HU" smtClean="0"/>
              <a:t>Még egy </a:t>
            </a:r>
            <a:r>
              <a:rPr lang="hu-HU"/>
              <a:t>bitet elveszünk </a:t>
            </a:r>
            <a:r>
              <a:rPr lang="hu-HU" smtClean="0"/>
              <a:t>balról az állomás rész rovására, </a:t>
            </a:r>
            <a:r>
              <a:rPr lang="hu-HU"/>
              <a:t>ami megmutatja, hogy a következő hálózat </a:t>
            </a:r>
            <a:r>
              <a:rPr lang="hu-HU" smtClean="0"/>
              <a:t>címe 32 -vel több, 192.168.10.96</a:t>
            </a:r>
            <a:endParaRPr lang="hu-HU"/>
          </a:p>
          <a:p>
            <a:r>
              <a:rPr lang="hu-HU"/>
              <a:t>A szórási címe az előző hálózatnak eggyel kisebb, ezt is beírjuk.</a:t>
            </a:r>
          </a:p>
          <a:p>
            <a:endParaRPr lang="hu-HU" smtClean="0"/>
          </a:p>
          <a:p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87765" y="2044477"/>
            <a:ext cx="5340485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613998" y="4555579"/>
            <a:ext cx="1314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192.168.10.64 h.</a:t>
            </a:r>
            <a:endParaRPr lang="hu-HU" sz="1100"/>
          </a:p>
        </p:txBody>
      </p:sp>
      <p:sp>
        <p:nvSpPr>
          <p:cNvPr id="8" name="Szövegdoboz 7"/>
          <p:cNvSpPr txBox="1"/>
          <p:nvPr/>
        </p:nvSpPr>
        <p:spPr>
          <a:xfrm>
            <a:off x="9915268" y="6221396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550107" y="3061023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/26</a:t>
            </a:r>
            <a:br>
              <a:rPr lang="hu-HU" smtClean="0"/>
            </a:br>
            <a:r>
              <a:rPr lang="hu-HU" smtClean="0"/>
              <a:t>L2</a:t>
            </a:r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10538298" y="39992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cxnSp>
        <p:nvCxnSpPr>
          <p:cNvPr id="13" name="Egyenes összekötő 12"/>
          <p:cNvCxnSpPr>
            <a:stCxn id="5" idx="0"/>
            <a:endCxn id="5" idx="0"/>
          </p:cNvCxnSpPr>
          <p:nvPr/>
        </p:nvCxnSpPr>
        <p:spPr>
          <a:xfrm>
            <a:off x="9358008" y="20444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>
            <a:stCxn id="5" idx="0"/>
          </p:cNvCxnSpPr>
          <p:nvPr/>
        </p:nvCxnSpPr>
        <p:spPr>
          <a:xfrm>
            <a:off x="9358008" y="2044477"/>
            <a:ext cx="19456" cy="470651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896242"/>
              </p:ext>
            </p:extLst>
          </p:nvPr>
        </p:nvGraphicFramePr>
        <p:xfrm>
          <a:off x="783615" y="5492643"/>
          <a:ext cx="5740400" cy="11999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99456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8" name="Szövegdoboz 17"/>
          <p:cNvSpPr txBox="1"/>
          <p:nvPr/>
        </p:nvSpPr>
        <p:spPr>
          <a:xfrm>
            <a:off x="9483306" y="2178996"/>
            <a:ext cx="229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192.168.10.128 h.</a:t>
            </a:r>
            <a:endParaRPr lang="hu-HU"/>
          </a:p>
        </p:txBody>
      </p:sp>
      <p:sp>
        <p:nvSpPr>
          <p:cNvPr id="19" name="Szövegdoboz 18"/>
          <p:cNvSpPr txBox="1"/>
          <p:nvPr/>
        </p:nvSpPr>
        <p:spPr>
          <a:xfrm>
            <a:off x="7904128" y="6395995"/>
            <a:ext cx="2262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192.168.10.127 sz.</a:t>
            </a:r>
            <a:endParaRPr lang="hu-HU" sz="1100"/>
          </a:p>
        </p:txBody>
      </p:sp>
      <p:sp>
        <p:nvSpPr>
          <p:cNvPr id="14" name="Szövegdoboz 13"/>
          <p:cNvSpPr txBox="1"/>
          <p:nvPr/>
        </p:nvSpPr>
        <p:spPr>
          <a:xfrm>
            <a:off x="10250751" y="3105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L1</a:t>
            </a:r>
            <a:endParaRPr lang="hu-HU"/>
          </a:p>
        </p:txBody>
      </p:sp>
      <p:cxnSp>
        <p:nvCxnSpPr>
          <p:cNvPr id="7" name="Egyenes összekötő 6"/>
          <p:cNvCxnSpPr>
            <a:stCxn id="5" idx="1"/>
          </p:cNvCxnSpPr>
          <p:nvPr/>
        </p:nvCxnSpPr>
        <p:spPr>
          <a:xfrm>
            <a:off x="6687765" y="4368554"/>
            <a:ext cx="2739187" cy="2918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6778533" y="5362494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/27</a:t>
            </a:r>
            <a:endParaRPr lang="hu-HU" sz="1100"/>
          </a:p>
        </p:txBody>
      </p:sp>
      <p:sp>
        <p:nvSpPr>
          <p:cNvPr id="20" name="Szövegdoboz 19"/>
          <p:cNvSpPr txBox="1"/>
          <p:nvPr/>
        </p:nvSpPr>
        <p:spPr>
          <a:xfrm>
            <a:off x="6883940" y="23313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21" name="Szövegdoboz 20"/>
          <p:cNvSpPr txBox="1"/>
          <p:nvPr/>
        </p:nvSpPr>
        <p:spPr>
          <a:xfrm>
            <a:off x="6986337" y="3913185"/>
            <a:ext cx="234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192.168.10.63 sz.</a:t>
            </a:r>
            <a:endParaRPr lang="hu-HU"/>
          </a:p>
        </p:txBody>
      </p:sp>
      <p:cxnSp>
        <p:nvCxnSpPr>
          <p:cNvPr id="11" name="Egyenes összekötő 10"/>
          <p:cNvCxnSpPr/>
          <p:nvPr/>
        </p:nvCxnSpPr>
        <p:spPr>
          <a:xfrm>
            <a:off x="7977895" y="4440360"/>
            <a:ext cx="0" cy="2252270"/>
          </a:xfrm>
          <a:prstGeom prst="line">
            <a:avLst/>
          </a:prstGeom>
          <a:ln w="28575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/>
          <p:cNvSpPr txBox="1"/>
          <p:nvPr/>
        </p:nvSpPr>
        <p:spPr>
          <a:xfrm>
            <a:off x="8110436" y="5380852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/27</a:t>
            </a:r>
            <a:br>
              <a:rPr lang="hu-HU" sz="1100" smtClean="0"/>
            </a:br>
            <a:r>
              <a:rPr lang="hu-HU" sz="1100" smtClean="0"/>
              <a:t>L3</a:t>
            </a:r>
            <a:endParaRPr lang="hu-HU" sz="1100"/>
          </a:p>
        </p:txBody>
      </p:sp>
      <p:sp>
        <p:nvSpPr>
          <p:cNvPr id="23" name="Szövegdoboz 22"/>
          <p:cNvSpPr txBox="1"/>
          <p:nvPr/>
        </p:nvSpPr>
        <p:spPr>
          <a:xfrm>
            <a:off x="7958037" y="4586462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192.168.10.96 h.</a:t>
            </a:r>
            <a:endParaRPr lang="hu-HU" sz="1100"/>
          </a:p>
        </p:txBody>
      </p:sp>
      <p:sp>
        <p:nvSpPr>
          <p:cNvPr id="24" name="Szövegdoboz 23"/>
          <p:cNvSpPr txBox="1"/>
          <p:nvPr/>
        </p:nvSpPr>
        <p:spPr>
          <a:xfrm>
            <a:off x="6732718" y="6355139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192.168.10.95 sz.</a:t>
            </a:r>
            <a:endParaRPr lang="hu-HU" sz="1100"/>
          </a:p>
        </p:txBody>
      </p:sp>
      <p:cxnSp>
        <p:nvCxnSpPr>
          <p:cNvPr id="25" name="Egyenes összekötő nyíllal 24"/>
          <p:cNvCxnSpPr/>
          <p:nvPr/>
        </p:nvCxnSpPr>
        <p:spPr>
          <a:xfrm>
            <a:off x="5175115" y="5136204"/>
            <a:ext cx="2365418" cy="1218935"/>
          </a:xfrm>
          <a:prstGeom prst="straightConnector1">
            <a:avLst/>
          </a:prstGeom>
          <a:ln w="34925">
            <a:solidFill>
              <a:schemeClr val="accent6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/>
          <p:cNvCxnSpPr>
            <a:endCxn id="23" idx="0"/>
          </p:cNvCxnSpPr>
          <p:nvPr/>
        </p:nvCxnSpPr>
        <p:spPr>
          <a:xfrm>
            <a:off x="4513634" y="4440360"/>
            <a:ext cx="4119644" cy="146102"/>
          </a:xfrm>
          <a:prstGeom prst="straightConnector1">
            <a:avLst/>
          </a:prstGeom>
          <a:ln w="38100">
            <a:solidFill>
              <a:schemeClr val="accent6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49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7"/>
            <a:ext cx="5082244" cy="3448165"/>
          </a:xfrm>
        </p:spPr>
        <p:txBody>
          <a:bodyPr anchor="t">
            <a:normAutofit/>
          </a:bodyPr>
          <a:lstStyle/>
          <a:p>
            <a:r>
              <a:rPr lang="hu-HU"/>
              <a:t>Következő lépésben </a:t>
            </a:r>
            <a:r>
              <a:rPr lang="hu-HU" smtClean="0"/>
              <a:t>tovább osztjuk a bal hálózatot </a:t>
            </a:r>
            <a:r>
              <a:rPr lang="hu-HU"/>
              <a:t>-elveszünk egy bitet az állomás részből, így létrejön két hálózat /</a:t>
            </a:r>
            <a:r>
              <a:rPr lang="hu-HU" smtClean="0"/>
              <a:t>28 </a:t>
            </a:r>
            <a:r>
              <a:rPr lang="hu-HU"/>
              <a:t>maszkkal.</a:t>
            </a:r>
          </a:p>
          <a:p>
            <a:r>
              <a:rPr lang="hu-HU" smtClean="0"/>
              <a:t> A táblázat megmutatja</a:t>
            </a:r>
            <a:r>
              <a:rPr lang="hu-HU"/>
              <a:t>, hogy a következő hálózat </a:t>
            </a:r>
            <a:r>
              <a:rPr lang="hu-HU" smtClean="0"/>
              <a:t>címe 16 -al több, 192.168.10.80</a:t>
            </a:r>
            <a:endParaRPr lang="hu-HU"/>
          </a:p>
          <a:p>
            <a:r>
              <a:rPr lang="hu-HU"/>
              <a:t>A szórási címe az előző hálózatnak eggyel kisebb, ezt is beírjuk</a:t>
            </a:r>
            <a:r>
              <a:rPr lang="hu-HU" smtClean="0"/>
              <a:t>. (.79)</a:t>
            </a:r>
            <a:endParaRPr lang="hu-HU"/>
          </a:p>
          <a:p>
            <a:endParaRPr lang="hu-HU" smtClean="0"/>
          </a:p>
          <a:p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87765" y="2044477"/>
            <a:ext cx="5340485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613998" y="4555579"/>
            <a:ext cx="1314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192.168.10.64 h.</a:t>
            </a:r>
            <a:endParaRPr lang="hu-HU" sz="1100"/>
          </a:p>
        </p:txBody>
      </p:sp>
      <p:sp>
        <p:nvSpPr>
          <p:cNvPr id="8" name="Szövegdoboz 7"/>
          <p:cNvSpPr txBox="1"/>
          <p:nvPr/>
        </p:nvSpPr>
        <p:spPr>
          <a:xfrm>
            <a:off x="9915268" y="6221396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550107" y="3061023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/26</a:t>
            </a:r>
            <a:br>
              <a:rPr lang="hu-HU" smtClean="0"/>
            </a:br>
            <a:r>
              <a:rPr lang="hu-HU" smtClean="0"/>
              <a:t>L2</a:t>
            </a:r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10538298" y="39992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cxnSp>
        <p:nvCxnSpPr>
          <p:cNvPr id="13" name="Egyenes összekötő 12"/>
          <p:cNvCxnSpPr>
            <a:stCxn id="5" idx="0"/>
            <a:endCxn id="5" idx="0"/>
          </p:cNvCxnSpPr>
          <p:nvPr/>
        </p:nvCxnSpPr>
        <p:spPr>
          <a:xfrm>
            <a:off x="9358008" y="20444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>
            <a:stCxn id="5" idx="0"/>
          </p:cNvCxnSpPr>
          <p:nvPr/>
        </p:nvCxnSpPr>
        <p:spPr>
          <a:xfrm>
            <a:off x="9358008" y="2044477"/>
            <a:ext cx="19456" cy="470651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622724"/>
              </p:ext>
            </p:extLst>
          </p:nvPr>
        </p:nvGraphicFramePr>
        <p:xfrm>
          <a:off x="783615" y="5492643"/>
          <a:ext cx="5740400" cy="11999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99456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8" name="Szövegdoboz 17"/>
          <p:cNvSpPr txBox="1"/>
          <p:nvPr/>
        </p:nvSpPr>
        <p:spPr>
          <a:xfrm>
            <a:off x="9483306" y="2178996"/>
            <a:ext cx="229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192.168.10.128 h.</a:t>
            </a:r>
            <a:endParaRPr lang="hu-HU"/>
          </a:p>
        </p:txBody>
      </p:sp>
      <p:sp>
        <p:nvSpPr>
          <p:cNvPr id="19" name="Szövegdoboz 18"/>
          <p:cNvSpPr txBox="1"/>
          <p:nvPr/>
        </p:nvSpPr>
        <p:spPr>
          <a:xfrm>
            <a:off x="7904128" y="6395995"/>
            <a:ext cx="2262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192.168.10.127 sz.</a:t>
            </a:r>
            <a:endParaRPr lang="hu-HU" sz="1100"/>
          </a:p>
        </p:txBody>
      </p:sp>
      <p:sp>
        <p:nvSpPr>
          <p:cNvPr id="14" name="Szövegdoboz 13"/>
          <p:cNvSpPr txBox="1"/>
          <p:nvPr/>
        </p:nvSpPr>
        <p:spPr>
          <a:xfrm>
            <a:off x="10250751" y="3105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L1</a:t>
            </a:r>
            <a:endParaRPr lang="hu-HU"/>
          </a:p>
        </p:txBody>
      </p:sp>
      <p:cxnSp>
        <p:nvCxnSpPr>
          <p:cNvPr id="7" name="Egyenes összekötő 6"/>
          <p:cNvCxnSpPr>
            <a:stCxn id="5" idx="1"/>
          </p:cNvCxnSpPr>
          <p:nvPr/>
        </p:nvCxnSpPr>
        <p:spPr>
          <a:xfrm>
            <a:off x="6687765" y="4368554"/>
            <a:ext cx="2739187" cy="2918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6844803" y="5035089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/28</a:t>
            </a:r>
            <a:endParaRPr lang="hu-HU" sz="1100"/>
          </a:p>
        </p:txBody>
      </p:sp>
      <p:sp>
        <p:nvSpPr>
          <p:cNvPr id="20" name="Szövegdoboz 19"/>
          <p:cNvSpPr txBox="1"/>
          <p:nvPr/>
        </p:nvSpPr>
        <p:spPr>
          <a:xfrm>
            <a:off x="6883940" y="23313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21" name="Szövegdoboz 20"/>
          <p:cNvSpPr txBox="1"/>
          <p:nvPr/>
        </p:nvSpPr>
        <p:spPr>
          <a:xfrm>
            <a:off x="6986337" y="3913185"/>
            <a:ext cx="234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192.168.10.63 sz.</a:t>
            </a:r>
            <a:endParaRPr lang="hu-HU"/>
          </a:p>
        </p:txBody>
      </p:sp>
      <p:cxnSp>
        <p:nvCxnSpPr>
          <p:cNvPr id="11" name="Egyenes összekötő 10"/>
          <p:cNvCxnSpPr/>
          <p:nvPr/>
        </p:nvCxnSpPr>
        <p:spPr>
          <a:xfrm>
            <a:off x="7977895" y="4440360"/>
            <a:ext cx="0" cy="2252270"/>
          </a:xfrm>
          <a:prstGeom prst="line">
            <a:avLst/>
          </a:prstGeom>
          <a:ln w="28575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/>
          <p:cNvSpPr txBox="1"/>
          <p:nvPr/>
        </p:nvSpPr>
        <p:spPr>
          <a:xfrm>
            <a:off x="8110436" y="5380852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/27</a:t>
            </a:r>
            <a:br>
              <a:rPr lang="hu-HU" sz="1100" smtClean="0"/>
            </a:br>
            <a:r>
              <a:rPr lang="hu-HU" sz="1100" smtClean="0"/>
              <a:t>L3</a:t>
            </a:r>
            <a:endParaRPr lang="hu-HU" sz="1100"/>
          </a:p>
        </p:txBody>
      </p:sp>
      <p:sp>
        <p:nvSpPr>
          <p:cNvPr id="23" name="Szövegdoboz 22"/>
          <p:cNvSpPr txBox="1"/>
          <p:nvPr/>
        </p:nvSpPr>
        <p:spPr>
          <a:xfrm>
            <a:off x="7958037" y="4586462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192.168.10.96 h.</a:t>
            </a:r>
            <a:endParaRPr lang="hu-HU" sz="1100"/>
          </a:p>
        </p:txBody>
      </p:sp>
      <p:sp>
        <p:nvSpPr>
          <p:cNvPr id="24" name="Szövegdoboz 23"/>
          <p:cNvSpPr txBox="1"/>
          <p:nvPr/>
        </p:nvSpPr>
        <p:spPr>
          <a:xfrm>
            <a:off x="6732718" y="6355139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192.168.10.95 sz.</a:t>
            </a:r>
            <a:endParaRPr lang="hu-HU" sz="1100"/>
          </a:p>
        </p:txBody>
      </p:sp>
      <p:sp>
        <p:nvSpPr>
          <p:cNvPr id="26" name="Szövegdoboz 25"/>
          <p:cNvSpPr txBox="1"/>
          <p:nvPr/>
        </p:nvSpPr>
        <p:spPr>
          <a:xfrm>
            <a:off x="6860408" y="5791063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/28</a:t>
            </a:r>
            <a:br>
              <a:rPr lang="hu-HU" sz="1100" smtClean="0"/>
            </a:br>
            <a:r>
              <a:rPr lang="hu-HU" sz="1100" smtClean="0"/>
              <a:t>L4</a:t>
            </a:r>
            <a:endParaRPr lang="hu-HU" sz="1100"/>
          </a:p>
        </p:txBody>
      </p:sp>
      <p:cxnSp>
        <p:nvCxnSpPr>
          <p:cNvPr id="12" name="Egyenes összekötő 11"/>
          <p:cNvCxnSpPr/>
          <p:nvPr/>
        </p:nvCxnSpPr>
        <p:spPr>
          <a:xfrm>
            <a:off x="6687765" y="5514599"/>
            <a:ext cx="1303940" cy="0"/>
          </a:xfrm>
          <a:prstGeom prst="line">
            <a:avLst/>
          </a:prstGeom>
          <a:ln w="22225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zövegdoboz 27"/>
          <p:cNvSpPr txBox="1"/>
          <p:nvPr/>
        </p:nvSpPr>
        <p:spPr>
          <a:xfrm>
            <a:off x="6615189" y="5274844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 79 sz.</a:t>
            </a:r>
            <a:endParaRPr lang="hu-HU" sz="1100"/>
          </a:p>
        </p:txBody>
      </p:sp>
      <p:sp>
        <p:nvSpPr>
          <p:cNvPr id="29" name="Szövegdoboz 28"/>
          <p:cNvSpPr txBox="1"/>
          <p:nvPr/>
        </p:nvSpPr>
        <p:spPr>
          <a:xfrm>
            <a:off x="6595961" y="5564308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192.168.10.80</a:t>
            </a:r>
            <a:endParaRPr lang="hu-HU" sz="1100"/>
          </a:p>
        </p:txBody>
      </p:sp>
    </p:spTree>
    <p:extLst>
      <p:ext uri="{BB962C8B-B14F-4D97-AF65-F5344CB8AC3E}">
        <p14:creationId xmlns:p14="http://schemas.microsoft.com/office/powerpoint/2010/main" val="57900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7"/>
            <a:ext cx="5082244" cy="3448165"/>
          </a:xfrm>
        </p:spPr>
        <p:txBody>
          <a:bodyPr anchor="t">
            <a:normAutofit/>
          </a:bodyPr>
          <a:lstStyle/>
          <a:p>
            <a:r>
              <a:rPr lang="hu-HU"/>
              <a:t>Következő lépésben </a:t>
            </a:r>
            <a:r>
              <a:rPr lang="hu-HU" smtClean="0"/>
              <a:t>tovább osztjuk a hálózatot </a:t>
            </a:r>
            <a:r>
              <a:rPr lang="hu-HU"/>
              <a:t>-elveszünk egy bitet az állomás részből, így létrejön két hálózat /</a:t>
            </a:r>
            <a:r>
              <a:rPr lang="hu-HU" smtClean="0"/>
              <a:t>29 </a:t>
            </a:r>
            <a:r>
              <a:rPr lang="hu-HU"/>
              <a:t>maszkkal.</a:t>
            </a:r>
          </a:p>
          <a:p>
            <a:r>
              <a:rPr lang="hu-HU"/>
              <a:t>A táblázat </a:t>
            </a:r>
            <a:r>
              <a:rPr lang="hu-HU" smtClean="0"/>
              <a:t>megmutatja</a:t>
            </a:r>
            <a:r>
              <a:rPr lang="hu-HU"/>
              <a:t>, hogy a következő hálózat </a:t>
            </a:r>
            <a:r>
              <a:rPr lang="hu-HU" smtClean="0"/>
              <a:t>címe 8 -al több, 192.168.10.72</a:t>
            </a:r>
            <a:endParaRPr lang="hu-HU"/>
          </a:p>
          <a:p>
            <a:r>
              <a:rPr lang="hu-HU"/>
              <a:t>A szórási címe az előző hálózatnak eggyel kisebb, ezt is beírjuk</a:t>
            </a:r>
            <a:r>
              <a:rPr lang="hu-HU" smtClean="0"/>
              <a:t>. (.71)</a:t>
            </a:r>
            <a:endParaRPr lang="hu-HU"/>
          </a:p>
          <a:p>
            <a:endParaRPr lang="hu-HU" smtClean="0"/>
          </a:p>
          <a:p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13999" y="2044477"/>
            <a:ext cx="5414252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606744" y="4418846"/>
            <a:ext cx="1314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192.168.10.64 h.</a:t>
            </a:r>
            <a:endParaRPr lang="hu-HU" sz="1100"/>
          </a:p>
        </p:txBody>
      </p:sp>
      <p:sp>
        <p:nvSpPr>
          <p:cNvPr id="8" name="Szövegdoboz 7"/>
          <p:cNvSpPr txBox="1"/>
          <p:nvPr/>
        </p:nvSpPr>
        <p:spPr>
          <a:xfrm>
            <a:off x="9915268" y="6221396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550107" y="3061023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/26</a:t>
            </a:r>
            <a:br>
              <a:rPr lang="hu-HU" smtClean="0"/>
            </a:br>
            <a:r>
              <a:rPr lang="hu-HU" smtClean="0"/>
              <a:t>L2</a:t>
            </a:r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10538298" y="39992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cxnSp>
        <p:nvCxnSpPr>
          <p:cNvPr id="13" name="Egyenes összekötő 12"/>
          <p:cNvCxnSpPr>
            <a:stCxn id="5" idx="0"/>
            <a:endCxn id="5" idx="0"/>
          </p:cNvCxnSpPr>
          <p:nvPr/>
        </p:nvCxnSpPr>
        <p:spPr>
          <a:xfrm>
            <a:off x="9358008" y="20444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>
            <a:stCxn id="5" idx="0"/>
          </p:cNvCxnSpPr>
          <p:nvPr/>
        </p:nvCxnSpPr>
        <p:spPr>
          <a:xfrm>
            <a:off x="9358008" y="2044477"/>
            <a:ext cx="19456" cy="470651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804785"/>
              </p:ext>
            </p:extLst>
          </p:nvPr>
        </p:nvGraphicFramePr>
        <p:xfrm>
          <a:off x="783615" y="5492643"/>
          <a:ext cx="5740400" cy="11999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99456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8" name="Szövegdoboz 17"/>
          <p:cNvSpPr txBox="1"/>
          <p:nvPr/>
        </p:nvSpPr>
        <p:spPr>
          <a:xfrm>
            <a:off x="9483306" y="2178996"/>
            <a:ext cx="229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192.168.10.128 h.</a:t>
            </a:r>
            <a:endParaRPr lang="hu-HU"/>
          </a:p>
        </p:txBody>
      </p:sp>
      <p:sp>
        <p:nvSpPr>
          <p:cNvPr id="19" name="Szövegdoboz 18"/>
          <p:cNvSpPr txBox="1"/>
          <p:nvPr/>
        </p:nvSpPr>
        <p:spPr>
          <a:xfrm>
            <a:off x="7904128" y="6395995"/>
            <a:ext cx="2262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192.168.10.127 sz.</a:t>
            </a:r>
            <a:endParaRPr lang="hu-HU" sz="1100"/>
          </a:p>
        </p:txBody>
      </p:sp>
      <p:sp>
        <p:nvSpPr>
          <p:cNvPr id="14" name="Szövegdoboz 13"/>
          <p:cNvSpPr txBox="1"/>
          <p:nvPr/>
        </p:nvSpPr>
        <p:spPr>
          <a:xfrm>
            <a:off x="10250751" y="3105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L1</a:t>
            </a:r>
            <a:endParaRPr lang="hu-HU"/>
          </a:p>
        </p:txBody>
      </p:sp>
      <p:cxnSp>
        <p:nvCxnSpPr>
          <p:cNvPr id="7" name="Egyenes összekötő 6"/>
          <p:cNvCxnSpPr>
            <a:stCxn id="5" idx="1"/>
          </p:cNvCxnSpPr>
          <p:nvPr/>
        </p:nvCxnSpPr>
        <p:spPr>
          <a:xfrm>
            <a:off x="6687765" y="4368554"/>
            <a:ext cx="2739187" cy="2918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6673087" y="4635119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/29 L6</a:t>
            </a:r>
            <a:endParaRPr lang="hu-HU" sz="1100"/>
          </a:p>
        </p:txBody>
      </p:sp>
      <p:sp>
        <p:nvSpPr>
          <p:cNvPr id="20" name="Szövegdoboz 19"/>
          <p:cNvSpPr txBox="1"/>
          <p:nvPr/>
        </p:nvSpPr>
        <p:spPr>
          <a:xfrm>
            <a:off x="6883940" y="23313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21" name="Szövegdoboz 20"/>
          <p:cNvSpPr txBox="1"/>
          <p:nvPr/>
        </p:nvSpPr>
        <p:spPr>
          <a:xfrm>
            <a:off x="6986337" y="3913185"/>
            <a:ext cx="234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192.168.10.63 sz.</a:t>
            </a:r>
            <a:endParaRPr lang="hu-HU"/>
          </a:p>
        </p:txBody>
      </p:sp>
      <p:cxnSp>
        <p:nvCxnSpPr>
          <p:cNvPr id="11" name="Egyenes összekötő 10"/>
          <p:cNvCxnSpPr/>
          <p:nvPr/>
        </p:nvCxnSpPr>
        <p:spPr>
          <a:xfrm>
            <a:off x="7977895" y="4440360"/>
            <a:ext cx="0" cy="2252270"/>
          </a:xfrm>
          <a:prstGeom prst="line">
            <a:avLst/>
          </a:prstGeom>
          <a:ln w="28575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/>
          <p:cNvSpPr txBox="1"/>
          <p:nvPr/>
        </p:nvSpPr>
        <p:spPr>
          <a:xfrm>
            <a:off x="8110436" y="5380852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/27</a:t>
            </a:r>
            <a:br>
              <a:rPr lang="hu-HU" sz="1100" smtClean="0"/>
            </a:br>
            <a:r>
              <a:rPr lang="hu-HU" sz="1100" smtClean="0"/>
              <a:t>L3</a:t>
            </a:r>
            <a:endParaRPr lang="hu-HU" sz="1100"/>
          </a:p>
        </p:txBody>
      </p:sp>
      <p:sp>
        <p:nvSpPr>
          <p:cNvPr id="23" name="Szövegdoboz 22"/>
          <p:cNvSpPr txBox="1"/>
          <p:nvPr/>
        </p:nvSpPr>
        <p:spPr>
          <a:xfrm>
            <a:off x="7958037" y="4586462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192.168.10.96 h.</a:t>
            </a:r>
            <a:endParaRPr lang="hu-HU" sz="1100"/>
          </a:p>
        </p:txBody>
      </p:sp>
      <p:sp>
        <p:nvSpPr>
          <p:cNvPr id="24" name="Szövegdoboz 23"/>
          <p:cNvSpPr txBox="1"/>
          <p:nvPr/>
        </p:nvSpPr>
        <p:spPr>
          <a:xfrm>
            <a:off x="6732718" y="6355139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192.168.10.95 sz.</a:t>
            </a:r>
            <a:endParaRPr lang="hu-HU" sz="1100"/>
          </a:p>
        </p:txBody>
      </p:sp>
      <p:sp>
        <p:nvSpPr>
          <p:cNvPr id="26" name="Szövegdoboz 25"/>
          <p:cNvSpPr txBox="1"/>
          <p:nvPr/>
        </p:nvSpPr>
        <p:spPr>
          <a:xfrm>
            <a:off x="6860408" y="5791063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/28</a:t>
            </a:r>
            <a:br>
              <a:rPr lang="hu-HU" sz="1100" smtClean="0"/>
            </a:br>
            <a:r>
              <a:rPr lang="hu-HU" sz="1100" smtClean="0"/>
              <a:t>L4</a:t>
            </a:r>
            <a:endParaRPr lang="hu-HU" sz="1100"/>
          </a:p>
        </p:txBody>
      </p:sp>
      <p:cxnSp>
        <p:nvCxnSpPr>
          <p:cNvPr id="12" name="Egyenes összekötő 11"/>
          <p:cNvCxnSpPr/>
          <p:nvPr/>
        </p:nvCxnSpPr>
        <p:spPr>
          <a:xfrm>
            <a:off x="6687765" y="5514599"/>
            <a:ext cx="1303940" cy="0"/>
          </a:xfrm>
          <a:prstGeom prst="line">
            <a:avLst/>
          </a:prstGeom>
          <a:ln w="22225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zövegdoboz 27"/>
          <p:cNvSpPr txBox="1"/>
          <p:nvPr/>
        </p:nvSpPr>
        <p:spPr>
          <a:xfrm>
            <a:off x="6615189" y="5274844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 79 sz.</a:t>
            </a:r>
            <a:endParaRPr lang="hu-HU" sz="1100"/>
          </a:p>
        </p:txBody>
      </p:sp>
      <p:sp>
        <p:nvSpPr>
          <p:cNvPr id="29" name="Szövegdoboz 28"/>
          <p:cNvSpPr txBox="1"/>
          <p:nvPr/>
        </p:nvSpPr>
        <p:spPr>
          <a:xfrm>
            <a:off x="6595961" y="5564308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192.168.10.80</a:t>
            </a:r>
            <a:endParaRPr lang="hu-HU" sz="1100"/>
          </a:p>
        </p:txBody>
      </p:sp>
      <p:cxnSp>
        <p:nvCxnSpPr>
          <p:cNvPr id="25" name="Egyenes összekötő 24"/>
          <p:cNvCxnSpPr/>
          <p:nvPr/>
        </p:nvCxnSpPr>
        <p:spPr>
          <a:xfrm>
            <a:off x="6687765" y="5035089"/>
            <a:ext cx="1290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zövegdoboz 29"/>
          <p:cNvSpPr txBox="1"/>
          <p:nvPr/>
        </p:nvSpPr>
        <p:spPr>
          <a:xfrm>
            <a:off x="7406675" y="5157966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/29 /L5</a:t>
            </a:r>
            <a:endParaRPr lang="hu-HU" sz="1100"/>
          </a:p>
        </p:txBody>
      </p:sp>
      <p:sp>
        <p:nvSpPr>
          <p:cNvPr id="31" name="Szövegdoboz 30"/>
          <p:cNvSpPr txBox="1"/>
          <p:nvPr/>
        </p:nvSpPr>
        <p:spPr>
          <a:xfrm>
            <a:off x="6622881" y="5019978"/>
            <a:ext cx="1314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192.168.10.72 h.</a:t>
            </a:r>
            <a:endParaRPr lang="hu-HU" sz="1100"/>
          </a:p>
        </p:txBody>
      </p:sp>
      <p:sp>
        <p:nvSpPr>
          <p:cNvPr id="32" name="Szövegdoboz 31"/>
          <p:cNvSpPr txBox="1"/>
          <p:nvPr/>
        </p:nvSpPr>
        <p:spPr>
          <a:xfrm>
            <a:off x="6602263" y="4824601"/>
            <a:ext cx="1314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192.168.10.71 sz.</a:t>
            </a:r>
            <a:endParaRPr lang="hu-HU" sz="1100"/>
          </a:p>
        </p:txBody>
      </p:sp>
    </p:spTree>
    <p:extLst>
      <p:ext uri="{BB962C8B-B14F-4D97-AF65-F5344CB8AC3E}">
        <p14:creationId xmlns:p14="http://schemas.microsoft.com/office/powerpoint/2010/main" val="268609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7"/>
            <a:ext cx="5082244" cy="3448165"/>
          </a:xfrm>
        </p:spPr>
        <p:txBody>
          <a:bodyPr anchor="t">
            <a:normAutofit/>
          </a:bodyPr>
          <a:lstStyle/>
          <a:p>
            <a:r>
              <a:rPr lang="hu-HU" smtClean="0"/>
              <a:t>L6 úgy keletkezik, hogy még egy bitet el kell venni, ekkor tartunk a /30 -as maszknál.</a:t>
            </a:r>
          </a:p>
          <a:p>
            <a:r>
              <a:rPr lang="hu-HU" smtClean="0"/>
              <a:t>A táblázat megmutatja, hogy a következő hálózat címe 4 -e több: 192.168.10.68 Ez a hálózat nem jelölt, de ugyanakkora, mint L6.</a:t>
            </a:r>
          </a:p>
          <a:p>
            <a:r>
              <a:rPr lang="hu-HU" smtClean="0"/>
              <a:t>L6 szórási címe ennél eggyel kevesebb, 192.168.10.67</a:t>
            </a:r>
          </a:p>
          <a:p>
            <a:endParaRPr lang="hu-HU" smtClean="0"/>
          </a:p>
          <a:p>
            <a:endParaRPr lang="hu-HU"/>
          </a:p>
          <a:p>
            <a:endParaRPr lang="hu-HU" smtClean="0"/>
          </a:p>
          <a:p>
            <a:endParaRPr lang="hu-HU"/>
          </a:p>
        </p:txBody>
      </p:sp>
      <p:sp>
        <p:nvSpPr>
          <p:cNvPr id="5" name="Téglalap 4"/>
          <p:cNvSpPr/>
          <p:nvPr/>
        </p:nvSpPr>
        <p:spPr>
          <a:xfrm>
            <a:off x="6613999" y="2044477"/>
            <a:ext cx="5414252" cy="4648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/>
          <p:cNvSpPr txBox="1"/>
          <p:nvPr/>
        </p:nvSpPr>
        <p:spPr>
          <a:xfrm>
            <a:off x="6606744" y="4418846"/>
            <a:ext cx="3795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.64</a:t>
            </a:r>
            <a:endParaRPr lang="hu-HU" sz="1100"/>
          </a:p>
        </p:txBody>
      </p:sp>
      <p:sp>
        <p:nvSpPr>
          <p:cNvPr id="8" name="Szövegdoboz 7"/>
          <p:cNvSpPr txBox="1"/>
          <p:nvPr/>
        </p:nvSpPr>
        <p:spPr>
          <a:xfrm>
            <a:off x="9915268" y="6221396"/>
            <a:ext cx="227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192.168.10.255 sz.</a:t>
            </a:r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7550107" y="3061023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/26</a:t>
            </a:r>
            <a:br>
              <a:rPr lang="hu-HU" smtClean="0"/>
            </a:br>
            <a:r>
              <a:rPr lang="hu-HU" smtClean="0"/>
              <a:t>L2</a:t>
            </a:r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10538298" y="39992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/25</a:t>
            </a:r>
            <a:endParaRPr lang="hu-HU"/>
          </a:p>
        </p:txBody>
      </p:sp>
      <p:cxnSp>
        <p:nvCxnSpPr>
          <p:cNvPr id="13" name="Egyenes összekötő 12"/>
          <p:cNvCxnSpPr>
            <a:stCxn id="5" idx="0"/>
            <a:endCxn id="5" idx="0"/>
          </p:cNvCxnSpPr>
          <p:nvPr/>
        </p:nvCxnSpPr>
        <p:spPr>
          <a:xfrm>
            <a:off x="9358008" y="20444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>
            <a:stCxn id="5" idx="0"/>
          </p:cNvCxnSpPr>
          <p:nvPr/>
        </p:nvCxnSpPr>
        <p:spPr>
          <a:xfrm>
            <a:off x="9358008" y="2044477"/>
            <a:ext cx="19456" cy="470651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ábláza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306279"/>
              </p:ext>
            </p:extLst>
          </p:nvPr>
        </p:nvGraphicFramePr>
        <p:xfrm>
          <a:off x="783615" y="5492643"/>
          <a:ext cx="5740400" cy="11999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99456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332841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L3</a:t>
                      </a:r>
                      <a:endParaRPr lang="hu-HU" sz="16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L4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L5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</a:t>
                      </a:r>
                      <a:endParaRPr lang="hu-HU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  <p:sp>
        <p:nvSpPr>
          <p:cNvPr id="18" name="Szövegdoboz 17"/>
          <p:cNvSpPr txBox="1"/>
          <p:nvPr/>
        </p:nvSpPr>
        <p:spPr>
          <a:xfrm>
            <a:off x="9483306" y="2178996"/>
            <a:ext cx="229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192.168.10.128 h.</a:t>
            </a:r>
            <a:endParaRPr lang="hu-HU"/>
          </a:p>
        </p:txBody>
      </p:sp>
      <p:sp>
        <p:nvSpPr>
          <p:cNvPr id="19" name="Szövegdoboz 18"/>
          <p:cNvSpPr txBox="1"/>
          <p:nvPr/>
        </p:nvSpPr>
        <p:spPr>
          <a:xfrm>
            <a:off x="7904128" y="6395995"/>
            <a:ext cx="2262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192.168.10.127 sz.</a:t>
            </a:r>
            <a:endParaRPr lang="hu-HU" sz="1100"/>
          </a:p>
        </p:txBody>
      </p:sp>
      <p:sp>
        <p:nvSpPr>
          <p:cNvPr id="14" name="Szövegdoboz 13"/>
          <p:cNvSpPr txBox="1"/>
          <p:nvPr/>
        </p:nvSpPr>
        <p:spPr>
          <a:xfrm>
            <a:off x="10250751" y="3105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L1</a:t>
            </a:r>
            <a:endParaRPr lang="hu-HU"/>
          </a:p>
        </p:txBody>
      </p:sp>
      <p:cxnSp>
        <p:nvCxnSpPr>
          <p:cNvPr id="7" name="Egyenes összekötő 6"/>
          <p:cNvCxnSpPr>
            <a:stCxn id="5" idx="1"/>
          </p:cNvCxnSpPr>
          <p:nvPr/>
        </p:nvCxnSpPr>
        <p:spPr>
          <a:xfrm>
            <a:off x="6687765" y="4368554"/>
            <a:ext cx="2739187" cy="2918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6673087" y="4635119"/>
            <a:ext cx="632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/30 L6</a:t>
            </a:r>
            <a:endParaRPr lang="hu-HU" sz="1100"/>
          </a:p>
        </p:txBody>
      </p:sp>
      <p:sp>
        <p:nvSpPr>
          <p:cNvPr id="20" name="Szövegdoboz 19"/>
          <p:cNvSpPr txBox="1"/>
          <p:nvPr/>
        </p:nvSpPr>
        <p:spPr>
          <a:xfrm>
            <a:off x="6883940" y="233139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192.168.10.0 h.</a:t>
            </a:r>
            <a:endParaRPr lang="hu-HU"/>
          </a:p>
        </p:txBody>
      </p:sp>
      <p:sp>
        <p:nvSpPr>
          <p:cNvPr id="21" name="Szövegdoboz 20"/>
          <p:cNvSpPr txBox="1"/>
          <p:nvPr/>
        </p:nvSpPr>
        <p:spPr>
          <a:xfrm>
            <a:off x="6986337" y="3913185"/>
            <a:ext cx="234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mtClean="0"/>
              <a:t>192.168.10.63 sz.</a:t>
            </a:r>
            <a:endParaRPr lang="hu-HU"/>
          </a:p>
        </p:txBody>
      </p:sp>
      <p:cxnSp>
        <p:nvCxnSpPr>
          <p:cNvPr id="11" name="Egyenes összekötő 10"/>
          <p:cNvCxnSpPr/>
          <p:nvPr/>
        </p:nvCxnSpPr>
        <p:spPr>
          <a:xfrm>
            <a:off x="7977895" y="4440360"/>
            <a:ext cx="0" cy="2252270"/>
          </a:xfrm>
          <a:prstGeom prst="line">
            <a:avLst/>
          </a:prstGeom>
          <a:ln w="28575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/>
          <p:cNvSpPr txBox="1"/>
          <p:nvPr/>
        </p:nvSpPr>
        <p:spPr>
          <a:xfrm>
            <a:off x="8110436" y="5380852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/27</a:t>
            </a:r>
            <a:br>
              <a:rPr lang="hu-HU" sz="1100" smtClean="0"/>
            </a:br>
            <a:r>
              <a:rPr lang="hu-HU" sz="1100" smtClean="0"/>
              <a:t>L3</a:t>
            </a:r>
            <a:endParaRPr lang="hu-HU" sz="1100"/>
          </a:p>
        </p:txBody>
      </p:sp>
      <p:sp>
        <p:nvSpPr>
          <p:cNvPr id="23" name="Szövegdoboz 22"/>
          <p:cNvSpPr txBox="1"/>
          <p:nvPr/>
        </p:nvSpPr>
        <p:spPr>
          <a:xfrm>
            <a:off x="7958037" y="4586462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192.168.10.96 h.</a:t>
            </a:r>
            <a:endParaRPr lang="hu-HU" sz="1100"/>
          </a:p>
        </p:txBody>
      </p:sp>
      <p:sp>
        <p:nvSpPr>
          <p:cNvPr id="24" name="Szövegdoboz 23"/>
          <p:cNvSpPr txBox="1"/>
          <p:nvPr/>
        </p:nvSpPr>
        <p:spPr>
          <a:xfrm>
            <a:off x="6732718" y="6355139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192.168.10.95 sz.</a:t>
            </a:r>
            <a:endParaRPr lang="hu-HU" sz="1100"/>
          </a:p>
        </p:txBody>
      </p:sp>
      <p:sp>
        <p:nvSpPr>
          <p:cNvPr id="26" name="Szövegdoboz 25"/>
          <p:cNvSpPr txBox="1"/>
          <p:nvPr/>
        </p:nvSpPr>
        <p:spPr>
          <a:xfrm>
            <a:off x="6860408" y="5791063"/>
            <a:ext cx="76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/28</a:t>
            </a:r>
            <a:br>
              <a:rPr lang="hu-HU" sz="1100" smtClean="0"/>
            </a:br>
            <a:r>
              <a:rPr lang="hu-HU" sz="1100" smtClean="0"/>
              <a:t>L4</a:t>
            </a:r>
            <a:endParaRPr lang="hu-HU" sz="1100"/>
          </a:p>
        </p:txBody>
      </p:sp>
      <p:cxnSp>
        <p:nvCxnSpPr>
          <p:cNvPr id="12" name="Egyenes összekötő 11"/>
          <p:cNvCxnSpPr/>
          <p:nvPr/>
        </p:nvCxnSpPr>
        <p:spPr>
          <a:xfrm>
            <a:off x="6687765" y="5514599"/>
            <a:ext cx="1303940" cy="0"/>
          </a:xfrm>
          <a:prstGeom prst="line">
            <a:avLst/>
          </a:prstGeom>
          <a:ln w="22225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zövegdoboz 27"/>
          <p:cNvSpPr txBox="1"/>
          <p:nvPr/>
        </p:nvSpPr>
        <p:spPr>
          <a:xfrm>
            <a:off x="6615189" y="5274844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 79 sz.</a:t>
            </a:r>
            <a:endParaRPr lang="hu-HU" sz="1100"/>
          </a:p>
        </p:txBody>
      </p:sp>
      <p:sp>
        <p:nvSpPr>
          <p:cNvPr id="29" name="Szövegdoboz 28"/>
          <p:cNvSpPr txBox="1"/>
          <p:nvPr/>
        </p:nvSpPr>
        <p:spPr>
          <a:xfrm>
            <a:off x="6595961" y="5564308"/>
            <a:ext cx="13504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192.168.10.80</a:t>
            </a:r>
            <a:endParaRPr lang="hu-HU" sz="1100"/>
          </a:p>
        </p:txBody>
      </p:sp>
      <p:cxnSp>
        <p:nvCxnSpPr>
          <p:cNvPr id="25" name="Egyenes összekötő 24"/>
          <p:cNvCxnSpPr/>
          <p:nvPr/>
        </p:nvCxnSpPr>
        <p:spPr>
          <a:xfrm>
            <a:off x="6687765" y="5035089"/>
            <a:ext cx="1290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zövegdoboz 29"/>
          <p:cNvSpPr txBox="1"/>
          <p:nvPr/>
        </p:nvSpPr>
        <p:spPr>
          <a:xfrm>
            <a:off x="7406675" y="5157966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/29 /L5</a:t>
            </a:r>
            <a:endParaRPr lang="hu-HU" sz="1100"/>
          </a:p>
        </p:txBody>
      </p:sp>
      <p:sp>
        <p:nvSpPr>
          <p:cNvPr id="31" name="Szövegdoboz 30"/>
          <p:cNvSpPr txBox="1"/>
          <p:nvPr/>
        </p:nvSpPr>
        <p:spPr>
          <a:xfrm>
            <a:off x="6622881" y="5019978"/>
            <a:ext cx="13144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192.168.10.72 h.</a:t>
            </a:r>
            <a:endParaRPr lang="hu-HU" sz="1100"/>
          </a:p>
        </p:txBody>
      </p:sp>
      <p:sp>
        <p:nvSpPr>
          <p:cNvPr id="32" name="Szövegdoboz 31"/>
          <p:cNvSpPr txBox="1"/>
          <p:nvPr/>
        </p:nvSpPr>
        <p:spPr>
          <a:xfrm>
            <a:off x="7540716" y="4785534"/>
            <a:ext cx="4747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.71</a:t>
            </a:r>
            <a:endParaRPr lang="hu-HU" sz="1100"/>
          </a:p>
        </p:txBody>
      </p:sp>
      <p:cxnSp>
        <p:nvCxnSpPr>
          <p:cNvPr id="27" name="Egyenes összekötő 26"/>
          <p:cNvCxnSpPr/>
          <p:nvPr/>
        </p:nvCxnSpPr>
        <p:spPr>
          <a:xfrm>
            <a:off x="7302168" y="4411625"/>
            <a:ext cx="21392" cy="628298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zövegdoboz 32"/>
          <p:cNvSpPr txBox="1"/>
          <p:nvPr/>
        </p:nvSpPr>
        <p:spPr>
          <a:xfrm>
            <a:off x="7328726" y="4444406"/>
            <a:ext cx="3795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.68</a:t>
            </a:r>
            <a:endParaRPr lang="hu-HU" sz="1100"/>
          </a:p>
        </p:txBody>
      </p:sp>
      <p:sp>
        <p:nvSpPr>
          <p:cNvPr id="34" name="Szövegdoboz 33"/>
          <p:cNvSpPr txBox="1"/>
          <p:nvPr/>
        </p:nvSpPr>
        <p:spPr>
          <a:xfrm>
            <a:off x="6903711" y="4796152"/>
            <a:ext cx="3795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smtClean="0"/>
              <a:t>.67</a:t>
            </a:r>
            <a:endParaRPr lang="hu-HU" sz="1100"/>
          </a:p>
        </p:txBody>
      </p:sp>
    </p:spTree>
    <p:extLst>
      <p:ext uri="{BB962C8B-B14F-4D97-AF65-F5344CB8AC3E}">
        <p14:creationId xmlns:p14="http://schemas.microsoft.com/office/powerpoint/2010/main" val="241406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48906" y="537410"/>
            <a:ext cx="8534400" cy="1507067"/>
          </a:xfrm>
        </p:spPr>
        <p:txBody>
          <a:bodyPr/>
          <a:lstStyle/>
          <a:p>
            <a:r>
              <a:rPr lang="hu-HU"/>
              <a:t>A következő címet kaptuk:</a:t>
            </a:r>
            <a:br>
              <a:rPr lang="hu-HU"/>
            </a:br>
            <a:r>
              <a:rPr lang="hu-HU" smtClean="0"/>
              <a:t>192.168.10.127 /</a:t>
            </a:r>
            <a:r>
              <a:rPr lang="hu-HU"/>
              <a:t>24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48906" y="2044478"/>
            <a:ext cx="5082244" cy="4462380"/>
          </a:xfrm>
        </p:spPr>
        <p:txBody>
          <a:bodyPr anchor="t"/>
          <a:lstStyle/>
          <a:p>
            <a:r>
              <a:rPr lang="hu-HU" smtClean="0"/>
              <a:t>Írd le az L4 alhálózat tulajdonságait, az ábrából most már kiolvasható:</a:t>
            </a:r>
          </a:p>
          <a:p>
            <a:r>
              <a:rPr lang="hu-HU" smtClean="0"/>
              <a:t>Hálózat címe: 192.168.10.80</a:t>
            </a:r>
          </a:p>
          <a:p>
            <a:r>
              <a:rPr lang="hu-HU" smtClean="0"/>
              <a:t>Első használható cím: 192.168.10.81</a:t>
            </a:r>
          </a:p>
          <a:p>
            <a:r>
              <a:rPr lang="hu-HU" smtClean="0"/>
              <a:t>Utolsó használható cím: 192.168.10.94</a:t>
            </a:r>
          </a:p>
          <a:p>
            <a:r>
              <a:rPr lang="hu-HU" smtClean="0"/>
              <a:t>Szórási cím:192.168.10.95</a:t>
            </a:r>
          </a:p>
          <a:p>
            <a:r>
              <a:rPr lang="hu-HU" smtClean="0"/>
              <a:t>Alhálózati maszk: /28</a:t>
            </a:r>
            <a:br>
              <a:rPr lang="hu-HU" smtClean="0"/>
            </a:br>
            <a:r>
              <a:rPr lang="hu-HU" smtClean="0"/>
              <a:t> 255.255.255.224</a:t>
            </a:r>
          </a:p>
          <a:p>
            <a:r>
              <a:rPr lang="hu-HU" smtClean="0"/>
              <a:t>Állomásoknak kiosztható címek száma: 32-2=30</a:t>
            </a:r>
          </a:p>
          <a:p>
            <a:pPr lvl="1"/>
            <a:endParaRPr lang="hu-HU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767442"/>
              </p:ext>
            </p:extLst>
          </p:nvPr>
        </p:nvGraphicFramePr>
        <p:xfrm>
          <a:off x="6147887" y="2044477"/>
          <a:ext cx="5740400" cy="107442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19667076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5626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564020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19428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729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46772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718959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17748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46587019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Dec. érték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31158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hatványai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2^0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6751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hu-H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80030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maszk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39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3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0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59460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88EAED13BC9A3B41A5F862F3AB289439" ma:contentTypeVersion="12" ma:contentTypeDescription="Új dokumentum létrehozása." ma:contentTypeScope="" ma:versionID="d6d19f73a902fda9f98a4b1151de3e5d">
  <xsd:schema xmlns:xsd="http://www.w3.org/2001/XMLSchema" xmlns:xs="http://www.w3.org/2001/XMLSchema" xmlns:p="http://schemas.microsoft.com/office/2006/metadata/properties" xmlns:ns3="9067f873-69c5-45b1-8b09-c6af5bfdd3af" xmlns:ns4="91d343a3-e770-483c-91cd-5dcc11064aa0" targetNamespace="http://schemas.microsoft.com/office/2006/metadata/properties" ma:root="true" ma:fieldsID="6c786eb4b68d7a47a063c509f222b185" ns3:_="" ns4:_="">
    <xsd:import namespace="9067f873-69c5-45b1-8b09-c6af5bfdd3af"/>
    <xsd:import namespace="91d343a3-e770-483c-91cd-5dcc11064a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67f873-69c5-45b1-8b09-c6af5bfdd3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d343a3-e770-483c-91cd-5dcc11064aa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Megosztási tipp kivonat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8F871A-E7B7-4250-83ED-98CB01CCEED5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91d343a3-e770-483c-91cd-5dcc11064aa0"/>
    <ds:schemaRef ds:uri="9067f873-69c5-45b1-8b09-c6af5bfdd3af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D407D39-4870-49BE-83E8-20CF3E87C4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074F3D-6534-41E5-A53D-9AF18AAB09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67f873-69c5-45b1-8b09-c6af5bfdd3af"/>
    <ds:schemaRef ds:uri="91d343a3-e770-483c-91cd-5dcc11064a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1100</TotalTime>
  <Words>1754</Words>
  <Application>Microsoft Office PowerPoint</Application>
  <PresentationFormat>Szélesvásznú</PresentationFormat>
  <Paragraphs>686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Calibri</vt:lpstr>
      <vt:lpstr>Century Gothic</vt:lpstr>
      <vt:lpstr>Wingdings 3</vt:lpstr>
      <vt:lpstr>Szelet</vt:lpstr>
      <vt:lpstr>Alhálózatokra bontás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A következő címet kaptuk: 192.168.10.127 /24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Alhálózatokra bontás</dc:title>
  <dc:creator>Nagy Tamás</dc:creator>
  <cp:lastModifiedBy>Tamás Nagy</cp:lastModifiedBy>
  <cp:revision>31</cp:revision>
  <dcterms:created xsi:type="dcterms:W3CDTF">2021-03-29T08:09:48Z</dcterms:created>
  <dcterms:modified xsi:type="dcterms:W3CDTF">2023-01-31T21:41:47Z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0x01010088EAED13BC9A3B41A5F862F3AB289439</vt:lpwstr>
  </property>
</Properties>
</file>